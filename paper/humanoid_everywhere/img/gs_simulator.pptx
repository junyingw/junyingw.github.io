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301" r:id="rId2"/>
  </p:sldIdLst>
  <p:sldSz cx="12192000" cy="594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06"/>
    <p:restoredTop sz="93219"/>
  </p:normalViewPr>
  <p:slideViewPr>
    <p:cSldViewPr snapToGrid="0">
      <p:cViewPr>
        <p:scale>
          <a:sx n="80" d="100"/>
          <a:sy n="80" d="100"/>
        </p:scale>
        <p:origin x="2168" y="1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0AEF93-635E-F44C-809D-B8964508E877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3525" y="1143000"/>
            <a:ext cx="6330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9EF2E5-CD21-D147-BFB3-ACA86EB39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73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32500-6704-4D98-A376-25292BFF6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FF4A2-C862-6D41-6939-0A33F926C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3525" y="1143000"/>
            <a:ext cx="63309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F61AF3-34A2-EC33-83A3-5E56D9625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58BA9-DE96-7BA9-837D-02AE2B486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9EF2E5-CD21-D147-BFB3-ACA86EB3999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66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72715"/>
            <a:ext cx="9144000" cy="2069253"/>
          </a:xfrm>
        </p:spPr>
        <p:txBody>
          <a:bodyPr anchor="b"/>
          <a:lstStyle>
            <a:lvl1pPr algn="ctr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21766"/>
            <a:ext cx="9144000" cy="1434994"/>
          </a:xfrm>
        </p:spPr>
        <p:txBody>
          <a:bodyPr/>
          <a:lstStyle>
            <a:lvl1pPr marL="0" indent="0" algn="ctr">
              <a:buNone/>
              <a:defRPr sz="2080"/>
            </a:lvl1pPr>
            <a:lvl2pPr marL="396255" indent="0" algn="ctr">
              <a:buNone/>
              <a:defRPr sz="1733"/>
            </a:lvl2pPr>
            <a:lvl3pPr marL="792510" indent="0" algn="ctr">
              <a:buNone/>
              <a:defRPr sz="1560"/>
            </a:lvl3pPr>
            <a:lvl4pPr marL="1188766" indent="0" algn="ctr">
              <a:buNone/>
              <a:defRPr sz="1387"/>
            </a:lvl4pPr>
            <a:lvl5pPr marL="1585021" indent="0" algn="ctr">
              <a:buNone/>
              <a:defRPr sz="1387"/>
            </a:lvl5pPr>
            <a:lvl6pPr marL="1981276" indent="0" algn="ctr">
              <a:buNone/>
              <a:defRPr sz="1387"/>
            </a:lvl6pPr>
            <a:lvl7pPr marL="2377531" indent="0" algn="ctr">
              <a:buNone/>
              <a:defRPr sz="1387"/>
            </a:lvl7pPr>
            <a:lvl8pPr marL="2773787" indent="0" algn="ctr">
              <a:buNone/>
              <a:defRPr sz="1387"/>
            </a:lvl8pPr>
            <a:lvl9pPr marL="3170042" indent="0" algn="ctr">
              <a:buNone/>
              <a:defRPr sz="138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981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630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81773"/>
            <a:ext cx="10515600" cy="2472372"/>
          </a:xfrm>
        </p:spPr>
        <p:txBody>
          <a:bodyPr anchor="b"/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77535"/>
            <a:ext cx="10515600" cy="1300162"/>
          </a:xfrm>
        </p:spPr>
        <p:txBody>
          <a:bodyPr/>
          <a:lstStyle>
            <a:lvl1pPr marL="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1pPr>
            <a:lvl2pPr marL="396255" indent="0">
              <a:buNone/>
              <a:defRPr sz="1733">
                <a:solidFill>
                  <a:schemeClr val="tx1">
                    <a:tint val="82000"/>
                  </a:schemeClr>
                </a:solidFill>
              </a:defRPr>
            </a:lvl2pPr>
            <a:lvl3pPr marL="792510" indent="0">
              <a:buNone/>
              <a:defRPr sz="1560">
                <a:solidFill>
                  <a:schemeClr val="tx1">
                    <a:tint val="82000"/>
                  </a:schemeClr>
                </a:solidFill>
              </a:defRPr>
            </a:lvl3pPr>
            <a:lvl4pPr marL="1188766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4pPr>
            <a:lvl5pPr marL="1585021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5pPr>
            <a:lvl6pPr marL="1981276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6pPr>
            <a:lvl7pPr marL="2377531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7pPr>
            <a:lvl8pPr marL="2773787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8pPr>
            <a:lvl9pPr marL="3170042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0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82208"/>
            <a:ext cx="518160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82208"/>
            <a:ext cx="518160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91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16442"/>
            <a:ext cx="10515600" cy="1148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57008"/>
            <a:ext cx="5157787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71065"/>
            <a:ext cx="5157787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57008"/>
            <a:ext cx="5183188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71065"/>
            <a:ext cx="5183188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38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059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90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96240"/>
            <a:ext cx="3932237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55769"/>
            <a:ext cx="6172200" cy="4223808"/>
          </a:xfrm>
        </p:spPr>
        <p:txBody>
          <a:bodyPr/>
          <a:lstStyle>
            <a:lvl1pPr>
              <a:defRPr sz="2773"/>
            </a:lvl1pPr>
            <a:lvl2pPr>
              <a:defRPr sz="2427"/>
            </a:lvl2pPr>
            <a:lvl3pPr>
              <a:defRPr sz="208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83080"/>
            <a:ext cx="3932237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83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96240"/>
            <a:ext cx="3932237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55769"/>
            <a:ext cx="6172200" cy="4223808"/>
          </a:xfrm>
        </p:spPr>
        <p:txBody>
          <a:bodyPr anchor="t"/>
          <a:lstStyle>
            <a:lvl1pPr marL="0" indent="0">
              <a:buNone/>
              <a:defRPr sz="2773"/>
            </a:lvl1pPr>
            <a:lvl2pPr marL="396255" indent="0">
              <a:buNone/>
              <a:defRPr sz="2427"/>
            </a:lvl2pPr>
            <a:lvl3pPr marL="792510" indent="0">
              <a:buNone/>
              <a:defRPr sz="2080"/>
            </a:lvl3pPr>
            <a:lvl4pPr marL="1188766" indent="0">
              <a:buNone/>
              <a:defRPr sz="1733"/>
            </a:lvl4pPr>
            <a:lvl5pPr marL="1585021" indent="0">
              <a:buNone/>
              <a:defRPr sz="1733"/>
            </a:lvl5pPr>
            <a:lvl6pPr marL="1981276" indent="0">
              <a:buNone/>
              <a:defRPr sz="1733"/>
            </a:lvl6pPr>
            <a:lvl7pPr marL="2377531" indent="0">
              <a:buNone/>
              <a:defRPr sz="1733"/>
            </a:lvl7pPr>
            <a:lvl8pPr marL="2773787" indent="0">
              <a:buNone/>
              <a:defRPr sz="1733"/>
            </a:lvl8pPr>
            <a:lvl9pPr marL="3170042" indent="0">
              <a:buNone/>
              <a:defRPr sz="17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83080"/>
            <a:ext cx="3932237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146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4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16442"/>
            <a:ext cx="2628900" cy="5036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16442"/>
            <a:ext cx="7734300" cy="50369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52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16442"/>
            <a:ext cx="10515600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82208"/>
            <a:ext cx="10515600" cy="377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508837"/>
            <a:ext cx="274320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508837"/>
            <a:ext cx="411480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508837"/>
            <a:ext cx="274320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04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92510" rtl="0" eaLnBrk="1" latinLnBrk="0" hangingPunct="1">
        <a:lnSpc>
          <a:spcPct val="90000"/>
        </a:lnSpc>
        <a:spcBef>
          <a:spcPct val="0"/>
        </a:spcBef>
        <a:buNone/>
        <a:defRPr sz="38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128" indent="-198128" algn="l" defTabSz="79251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2427" kern="1200">
          <a:solidFill>
            <a:schemeClr val="tx1"/>
          </a:solidFill>
          <a:latin typeface="+mn-lt"/>
          <a:ea typeface="+mn-ea"/>
          <a:cs typeface="+mn-cs"/>
        </a:defRPr>
      </a:lvl1pPr>
      <a:lvl2pPr marL="59438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80" kern="1200">
          <a:solidFill>
            <a:schemeClr val="tx1"/>
          </a:solidFill>
          <a:latin typeface="+mn-lt"/>
          <a:ea typeface="+mn-ea"/>
          <a:cs typeface="+mn-cs"/>
        </a:defRPr>
      </a:lvl2pPr>
      <a:lvl3pPr marL="990638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3pPr>
      <a:lvl4pPr marL="138689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78314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217940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57565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97191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368170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1pPr>
      <a:lvl2pPr marL="396255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9251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6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58502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198127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37753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773787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170042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AD28B-F781-DB45-E75A-E8AC272B7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5" name="robot_360">
            <a:hlinkClick r:id="" action="ppaction://media"/>
            <a:extLst>
              <a:ext uri="{FF2B5EF4-FFF2-40B4-BE49-F238E27FC236}">
                <a16:creationId xmlns:a16="http://schemas.microsoft.com/office/drawing/2014/main" id="{47824420-2E6E-5E18-39D9-F2EA4EBCAD4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59622" y="3341109"/>
            <a:ext cx="1961150" cy="1961150"/>
          </a:xfrm>
          <a:prstGeom prst="rect">
            <a:avLst/>
          </a:prstGeom>
        </p:spPr>
      </p:pic>
      <p:sp>
        <p:nvSpPr>
          <p:cNvPr id="655" name="TextBox 654">
            <a:extLst>
              <a:ext uri="{FF2B5EF4-FFF2-40B4-BE49-F238E27FC236}">
                <a16:creationId xmlns:a16="http://schemas.microsoft.com/office/drawing/2014/main" id="{8DAEDFFE-4F87-4C62-E3AA-1138DD8EB3FD}"/>
              </a:ext>
            </a:extLst>
          </p:cNvPr>
          <p:cNvSpPr txBox="1"/>
          <p:nvPr/>
        </p:nvSpPr>
        <p:spPr>
          <a:xfrm>
            <a:off x="33998945" y="4921008"/>
            <a:ext cx="155683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5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Text is not SVG - cannot display</a:t>
            </a:r>
          </a:p>
        </p:txBody>
      </p:sp>
      <p:grpSp>
        <p:nvGrpSpPr>
          <p:cNvPr id="709" name="Graphic 3">
            <a:extLst>
              <a:ext uri="{FF2B5EF4-FFF2-40B4-BE49-F238E27FC236}">
                <a16:creationId xmlns:a16="http://schemas.microsoft.com/office/drawing/2014/main" id="{A4C23B60-0058-61A2-2E23-14DC451F373B}"/>
              </a:ext>
            </a:extLst>
          </p:cNvPr>
          <p:cNvGrpSpPr/>
          <p:nvPr/>
        </p:nvGrpSpPr>
        <p:grpSpPr>
          <a:xfrm>
            <a:off x="584784" y="398244"/>
            <a:ext cx="11147037" cy="5411335"/>
            <a:chOff x="584178" y="1418065"/>
            <a:chExt cx="10393819" cy="4589556"/>
          </a:xfrm>
        </p:grpSpPr>
        <p:grpSp>
          <p:nvGrpSpPr>
            <p:cNvPr id="713" name="Graphic 3">
              <a:extLst>
                <a:ext uri="{FF2B5EF4-FFF2-40B4-BE49-F238E27FC236}">
                  <a16:creationId xmlns:a16="http://schemas.microsoft.com/office/drawing/2014/main" id="{7DEA6B3F-3475-B4B9-0326-C0FA8AFA1F36}"/>
                </a:ext>
              </a:extLst>
            </p:cNvPr>
            <p:cNvGrpSpPr/>
            <p:nvPr/>
          </p:nvGrpSpPr>
          <p:grpSpPr>
            <a:xfrm>
              <a:off x="584179" y="1822065"/>
              <a:ext cx="1382316" cy="445271"/>
              <a:chOff x="584179" y="1822065"/>
              <a:chExt cx="1382316" cy="445271"/>
            </a:xfrm>
          </p:grpSpPr>
          <p:sp>
            <p:nvSpPr>
              <p:cNvPr id="714" name="Rounded Rectangle 713">
                <a:extLst>
                  <a:ext uri="{FF2B5EF4-FFF2-40B4-BE49-F238E27FC236}">
                    <a16:creationId xmlns:a16="http://schemas.microsoft.com/office/drawing/2014/main" id="{4D77AB61-48F5-00A8-90BB-C62E4ECEEF2C}"/>
                  </a:ext>
                </a:extLst>
              </p:cNvPr>
              <p:cNvSpPr/>
              <p:nvPr/>
            </p:nvSpPr>
            <p:spPr>
              <a:xfrm>
                <a:off x="584179" y="1822065"/>
                <a:ext cx="1382315" cy="445271"/>
              </a:xfrm>
              <a:prstGeom prst="roundRect">
                <a:avLst>
                  <a:gd name="adj" fmla="val 11641"/>
                </a:avLst>
              </a:prstGeom>
              <a:solidFill>
                <a:srgbClr val="DAE8FC"/>
              </a:solidFill>
              <a:ln w="8633" cap="flat">
                <a:solidFill>
                  <a:srgbClr val="6C8EB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5" name="TextBox 714">
                <a:extLst>
                  <a:ext uri="{FF2B5EF4-FFF2-40B4-BE49-F238E27FC236}">
                    <a16:creationId xmlns:a16="http://schemas.microsoft.com/office/drawing/2014/main" id="{C610670D-38C3-F672-48EB-133EDE47623B}"/>
                  </a:ext>
                </a:extLst>
              </p:cNvPr>
              <p:cNvSpPr txBox="1"/>
              <p:nvPr/>
            </p:nvSpPr>
            <p:spPr>
              <a:xfrm>
                <a:off x="592580" y="1905578"/>
                <a:ext cx="1373915" cy="3523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300" dirty="0">
                    <a:ln/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Helvetica"/>
                    <a:rtl val="0"/>
                  </a:rPr>
                  <a:t>Real Scene Scan</a:t>
                </a:r>
              </a:p>
              <a:p>
                <a:pPr algn="ctr"/>
                <a:r>
                  <a:rPr lang="en-US" sz="800" dirty="0">
                    <a:ln/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Helvetica"/>
                    <a:rtl val="0"/>
                  </a:rPr>
                  <a:t>(mesh and 3DGS)</a:t>
                </a:r>
              </a:p>
            </p:txBody>
          </p:sp>
        </p:grpSp>
        <p:grpSp>
          <p:nvGrpSpPr>
            <p:cNvPr id="716" name="Graphic 3">
              <a:extLst>
                <a:ext uri="{FF2B5EF4-FFF2-40B4-BE49-F238E27FC236}">
                  <a16:creationId xmlns:a16="http://schemas.microsoft.com/office/drawing/2014/main" id="{0F8F065C-25CD-BA95-69A5-1EF4B2804B12}"/>
                </a:ext>
              </a:extLst>
            </p:cNvPr>
            <p:cNvGrpSpPr/>
            <p:nvPr/>
          </p:nvGrpSpPr>
          <p:grpSpPr>
            <a:xfrm>
              <a:off x="584179" y="2491608"/>
              <a:ext cx="1382315" cy="551740"/>
              <a:chOff x="584179" y="2491608"/>
              <a:chExt cx="1382315" cy="551740"/>
            </a:xfrm>
          </p:grpSpPr>
          <p:sp>
            <p:nvSpPr>
              <p:cNvPr id="717" name="Rounded Rectangle 716">
                <a:extLst>
                  <a:ext uri="{FF2B5EF4-FFF2-40B4-BE49-F238E27FC236}">
                    <a16:creationId xmlns:a16="http://schemas.microsoft.com/office/drawing/2014/main" id="{8C3BCF27-4574-5B9A-06D8-E0B677AEA057}"/>
                  </a:ext>
                </a:extLst>
              </p:cNvPr>
              <p:cNvSpPr/>
              <p:nvPr/>
            </p:nvSpPr>
            <p:spPr>
              <a:xfrm>
                <a:off x="584179" y="2491608"/>
                <a:ext cx="1382315" cy="445271"/>
              </a:xfrm>
              <a:prstGeom prst="roundRect">
                <a:avLst>
                  <a:gd name="adj" fmla="val 11641"/>
                </a:avLst>
              </a:prstGeom>
              <a:solidFill>
                <a:srgbClr val="DAE8FC"/>
              </a:solidFill>
              <a:ln w="8633" cap="flat">
                <a:solidFill>
                  <a:srgbClr val="6C8EB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" name="TextBox 717">
                <a:extLst>
                  <a:ext uri="{FF2B5EF4-FFF2-40B4-BE49-F238E27FC236}">
                    <a16:creationId xmlns:a16="http://schemas.microsoft.com/office/drawing/2014/main" id="{12CEC331-4E5F-D207-2970-8BE8F13BB4A3}"/>
                  </a:ext>
                </a:extLst>
              </p:cNvPr>
              <p:cNvSpPr txBox="1"/>
              <p:nvPr/>
            </p:nvSpPr>
            <p:spPr>
              <a:xfrm>
                <a:off x="700351" y="2521274"/>
                <a:ext cx="1097399" cy="5220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300" dirty="0">
                    <a:ln/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Helvetica"/>
                    <a:rtl val="0"/>
                  </a:rPr>
                  <a:t>Object Scans</a:t>
                </a:r>
              </a:p>
              <a:p>
                <a:pPr algn="ctr"/>
                <a:r>
                  <a:rPr lang="en-US" sz="800" dirty="0">
                    <a:ln/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Helvetica"/>
                    <a:rtl val="0"/>
                  </a:rPr>
                  <a:t>(mesh and 3DGS)</a:t>
                </a:r>
              </a:p>
              <a:p>
                <a:pPr algn="l"/>
                <a:endParaRPr lang="en-US" sz="1300" dirty="0">
                  <a:ln/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"/>
                  <a:rtl val="0"/>
                </a:endParaRPr>
              </a:p>
            </p:txBody>
          </p:sp>
        </p:grpSp>
        <p:grpSp>
          <p:nvGrpSpPr>
            <p:cNvPr id="719" name="Graphic 3">
              <a:extLst>
                <a:ext uri="{FF2B5EF4-FFF2-40B4-BE49-F238E27FC236}">
                  <a16:creationId xmlns:a16="http://schemas.microsoft.com/office/drawing/2014/main" id="{1CA30E57-1DBE-8E63-E68B-102FE4423B9A}"/>
                </a:ext>
              </a:extLst>
            </p:cNvPr>
            <p:cNvGrpSpPr/>
            <p:nvPr/>
          </p:nvGrpSpPr>
          <p:grpSpPr>
            <a:xfrm>
              <a:off x="584178" y="3514098"/>
              <a:ext cx="1382315" cy="562521"/>
              <a:chOff x="584178" y="3514098"/>
              <a:chExt cx="1382315" cy="562521"/>
            </a:xfrm>
          </p:grpSpPr>
          <p:sp>
            <p:nvSpPr>
              <p:cNvPr id="720" name="Rounded Rectangle 719">
                <a:extLst>
                  <a:ext uri="{FF2B5EF4-FFF2-40B4-BE49-F238E27FC236}">
                    <a16:creationId xmlns:a16="http://schemas.microsoft.com/office/drawing/2014/main" id="{988CF8AB-FB26-9719-D1E2-A2EE349EFCB5}"/>
                  </a:ext>
                </a:extLst>
              </p:cNvPr>
              <p:cNvSpPr/>
              <p:nvPr/>
            </p:nvSpPr>
            <p:spPr>
              <a:xfrm>
                <a:off x="584178" y="3514098"/>
                <a:ext cx="1382315" cy="445271"/>
              </a:xfrm>
              <a:prstGeom prst="roundRect">
                <a:avLst>
                  <a:gd name="adj" fmla="val 11641"/>
                </a:avLst>
              </a:prstGeom>
              <a:solidFill>
                <a:srgbClr val="DAE8FC"/>
              </a:solidFill>
              <a:ln w="8633" cap="flat">
                <a:solidFill>
                  <a:srgbClr val="6C8EB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1" name="TextBox 720">
                <a:extLst>
                  <a:ext uri="{FF2B5EF4-FFF2-40B4-BE49-F238E27FC236}">
                    <a16:creationId xmlns:a16="http://schemas.microsoft.com/office/drawing/2014/main" id="{EF910898-53F1-59E8-9F11-86FC45E4AA91}"/>
                  </a:ext>
                </a:extLst>
              </p:cNvPr>
              <p:cNvSpPr txBox="1"/>
              <p:nvPr/>
            </p:nvSpPr>
            <p:spPr>
              <a:xfrm>
                <a:off x="716674" y="3554545"/>
                <a:ext cx="1063021" cy="5220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300" dirty="0">
                    <a:ln/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Helvetica"/>
                    <a:rtl val="0"/>
                  </a:rPr>
                  <a:t>Robot URDF</a:t>
                </a:r>
              </a:p>
              <a:p>
                <a:pPr algn="ctr"/>
                <a:r>
                  <a:rPr lang="en-US" sz="800" dirty="0">
                    <a:ln/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Helvetica"/>
                    <a:rtl val="0"/>
                  </a:rPr>
                  <a:t>(mesh and 3DGS)</a:t>
                </a:r>
              </a:p>
              <a:p>
                <a:pPr algn="l"/>
                <a:endParaRPr lang="en-US" sz="1300" dirty="0">
                  <a:ln/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"/>
                  <a:rtl val="0"/>
                </a:endParaRPr>
              </a:p>
            </p:txBody>
          </p:sp>
        </p:grpSp>
        <p:sp>
          <p:nvSpPr>
            <p:cNvPr id="722" name="Rounded Rectangle 721">
              <a:extLst>
                <a:ext uri="{FF2B5EF4-FFF2-40B4-BE49-F238E27FC236}">
                  <a16:creationId xmlns:a16="http://schemas.microsoft.com/office/drawing/2014/main" id="{1F2FF561-6293-0FA9-F684-9963361448FF}"/>
                </a:ext>
              </a:extLst>
            </p:cNvPr>
            <p:cNvSpPr/>
            <p:nvPr/>
          </p:nvSpPr>
          <p:spPr>
            <a:xfrm>
              <a:off x="2525158" y="1418065"/>
              <a:ext cx="2034571" cy="2706650"/>
            </a:xfrm>
            <a:prstGeom prst="roundRect">
              <a:avLst>
                <a:gd name="adj" fmla="val 4021"/>
              </a:avLst>
            </a:prstGeom>
            <a:solidFill>
              <a:srgbClr val="F5F5F5"/>
            </a:solidFill>
            <a:ln w="17266" cap="flat">
              <a:solidFill>
                <a:srgbClr val="66666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23" name="Graphic 3">
              <a:extLst>
                <a:ext uri="{FF2B5EF4-FFF2-40B4-BE49-F238E27FC236}">
                  <a16:creationId xmlns:a16="http://schemas.microsoft.com/office/drawing/2014/main" id="{14090ED8-A343-1024-9EE8-4F268D228493}"/>
                </a:ext>
              </a:extLst>
            </p:cNvPr>
            <p:cNvGrpSpPr/>
            <p:nvPr/>
          </p:nvGrpSpPr>
          <p:grpSpPr>
            <a:xfrm>
              <a:off x="2489861" y="1481763"/>
              <a:ext cx="2094355" cy="473883"/>
              <a:chOff x="2489861" y="1481763"/>
              <a:chExt cx="2094355" cy="473883"/>
            </a:xfrm>
          </p:grpSpPr>
          <p:sp>
            <p:nvSpPr>
              <p:cNvPr id="724" name="Rectangle 723">
                <a:extLst>
                  <a:ext uri="{FF2B5EF4-FFF2-40B4-BE49-F238E27FC236}">
                    <a16:creationId xmlns:a16="http://schemas.microsoft.com/office/drawing/2014/main" id="{16B16609-FABA-9E75-3808-BEB480D5E72C}"/>
                  </a:ext>
                </a:extLst>
              </p:cNvPr>
              <p:cNvSpPr/>
              <p:nvPr/>
            </p:nvSpPr>
            <p:spPr>
              <a:xfrm>
                <a:off x="2700850" y="1733011"/>
                <a:ext cx="1641499" cy="222635"/>
              </a:xfrm>
              <a:prstGeom prst="rect">
                <a:avLst/>
              </a:prstGeom>
              <a:noFill/>
              <a:ln w="863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" name="TextBox 724">
                <a:extLst>
                  <a:ext uri="{FF2B5EF4-FFF2-40B4-BE49-F238E27FC236}">
                    <a16:creationId xmlns:a16="http://schemas.microsoft.com/office/drawing/2014/main" id="{869667C1-0E1C-F8A5-D6A8-F11CFBC880F1}"/>
                  </a:ext>
                </a:extLst>
              </p:cNvPr>
              <p:cNvSpPr txBox="1"/>
              <p:nvPr/>
            </p:nvSpPr>
            <p:spPr>
              <a:xfrm>
                <a:off x="2489861" y="1481763"/>
                <a:ext cx="2094355" cy="2479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300" dirty="0">
                    <a:ln/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Helvetica"/>
                    <a:rtl val="0"/>
                  </a:rPr>
                  <a:t>Independent Gaussian Sets</a:t>
                </a:r>
              </a:p>
            </p:txBody>
          </p:sp>
        </p:grpSp>
        <p:grpSp>
          <p:nvGrpSpPr>
            <p:cNvPr id="726" name="Graphic 3">
              <a:extLst>
                <a:ext uri="{FF2B5EF4-FFF2-40B4-BE49-F238E27FC236}">
                  <a16:creationId xmlns:a16="http://schemas.microsoft.com/office/drawing/2014/main" id="{F740B0A1-EF09-BA37-A8AA-E6936E795CA7}"/>
                </a:ext>
              </a:extLst>
            </p:cNvPr>
            <p:cNvGrpSpPr/>
            <p:nvPr/>
          </p:nvGrpSpPr>
          <p:grpSpPr>
            <a:xfrm>
              <a:off x="2779054" y="1813545"/>
              <a:ext cx="1464224" cy="597529"/>
              <a:chOff x="2779054" y="1813545"/>
              <a:chExt cx="1464224" cy="597529"/>
            </a:xfrm>
          </p:grpSpPr>
          <p:sp>
            <p:nvSpPr>
              <p:cNvPr id="727" name="Rounded Rectangle 726">
                <a:extLst>
                  <a:ext uri="{FF2B5EF4-FFF2-40B4-BE49-F238E27FC236}">
                    <a16:creationId xmlns:a16="http://schemas.microsoft.com/office/drawing/2014/main" id="{2D647BFE-051F-8991-E8B9-431412AC6B99}"/>
                  </a:ext>
                </a:extLst>
              </p:cNvPr>
              <p:cNvSpPr/>
              <p:nvPr/>
            </p:nvSpPr>
            <p:spPr>
              <a:xfrm>
                <a:off x="2779054" y="1813545"/>
                <a:ext cx="1464224" cy="597529"/>
              </a:xfrm>
              <a:prstGeom prst="roundRect">
                <a:avLst>
                  <a:gd name="adj" fmla="val 9701"/>
                </a:avLst>
              </a:prstGeom>
              <a:solidFill>
                <a:srgbClr val="E6D0DE"/>
              </a:solidFill>
              <a:ln w="8633" cap="flat">
                <a:solidFill>
                  <a:srgbClr val="99618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" name="TextBox 727">
                <a:extLst>
                  <a:ext uri="{FF2B5EF4-FFF2-40B4-BE49-F238E27FC236}">
                    <a16:creationId xmlns:a16="http://schemas.microsoft.com/office/drawing/2014/main" id="{A4238A02-EECD-4715-6448-5CB0BBBBB2CF}"/>
                  </a:ext>
                </a:extLst>
              </p:cNvPr>
              <p:cNvSpPr txBox="1"/>
              <p:nvPr/>
            </p:nvSpPr>
            <p:spPr>
              <a:xfrm>
                <a:off x="2829049" y="1973457"/>
                <a:ext cx="1360464" cy="2740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500" dirty="0">
                    <a:ln/>
                    <a:solidFill>
                      <a:srgbClr val="000000"/>
                    </a:solidFill>
                    <a:latin typeface="Arial" panose="020B0604020202020204" pitchFamily="34" charset="0"/>
                    <a:ea typeface="Apple Color Emoji"/>
                    <a:cs typeface="Arial" panose="020B0604020202020204" pitchFamily="34" charset="0"/>
                    <a:sym typeface="Apple Color Emoji"/>
                    <a:rtl val="0"/>
                  </a:rPr>
                  <a:t>🏠</a:t>
                </a:r>
                <a:r>
                  <a:rPr lang="en-US" sz="1500" dirty="0">
                    <a:ln/>
                    <a:solidFill>
                      <a:srgbClr val="000000"/>
                    </a:solidFill>
                    <a:latin typeface="Arial" panose="020B0604020202020204" pitchFamily="34" charset="0"/>
                    <a:ea typeface="Apple Color Emoji"/>
                    <a:cs typeface="Arial" panose="020B0604020202020204" pitchFamily="34" charset="0"/>
                    <a:sym typeface="Helvetica"/>
                    <a:rtl val="0"/>
                  </a:rPr>
                  <a:t> Background</a:t>
                </a:r>
              </a:p>
            </p:txBody>
          </p:sp>
        </p:grpSp>
        <p:grpSp>
          <p:nvGrpSpPr>
            <p:cNvPr id="729" name="Graphic 3">
              <a:extLst>
                <a:ext uri="{FF2B5EF4-FFF2-40B4-BE49-F238E27FC236}">
                  <a16:creationId xmlns:a16="http://schemas.microsoft.com/office/drawing/2014/main" id="{15E6F117-A64A-7818-3DB8-4D081E253C20}"/>
                </a:ext>
              </a:extLst>
            </p:cNvPr>
            <p:cNvGrpSpPr/>
            <p:nvPr/>
          </p:nvGrpSpPr>
          <p:grpSpPr>
            <a:xfrm>
              <a:off x="2787244" y="2491608"/>
              <a:ext cx="1487805" cy="521895"/>
              <a:chOff x="2787244" y="2491608"/>
              <a:chExt cx="1487805" cy="521895"/>
            </a:xfrm>
          </p:grpSpPr>
          <p:sp>
            <p:nvSpPr>
              <p:cNvPr id="730" name="Rounded Rectangle 729">
                <a:extLst>
                  <a:ext uri="{FF2B5EF4-FFF2-40B4-BE49-F238E27FC236}">
                    <a16:creationId xmlns:a16="http://schemas.microsoft.com/office/drawing/2014/main" id="{8F7317DD-9DFB-1231-11E8-F7763D127CA0}"/>
                  </a:ext>
                </a:extLst>
              </p:cNvPr>
              <p:cNvSpPr/>
              <p:nvPr/>
            </p:nvSpPr>
            <p:spPr>
              <a:xfrm>
                <a:off x="2787244" y="2491608"/>
                <a:ext cx="1487805" cy="521895"/>
              </a:xfrm>
              <a:prstGeom prst="roundRect">
                <a:avLst>
                  <a:gd name="adj" fmla="val 9701"/>
                </a:avLst>
              </a:prstGeom>
              <a:solidFill>
                <a:srgbClr val="FFF2CC"/>
              </a:solidFill>
              <a:ln w="8633" cap="flat">
                <a:solidFill>
                  <a:srgbClr val="D6B65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" name="TextBox 730">
                <a:extLst>
                  <a:ext uri="{FF2B5EF4-FFF2-40B4-BE49-F238E27FC236}">
                    <a16:creationId xmlns:a16="http://schemas.microsoft.com/office/drawing/2014/main" id="{6298CA16-FD50-FC5F-05B6-0F39C112F506}"/>
                  </a:ext>
                </a:extLst>
              </p:cNvPr>
              <p:cNvSpPr txBox="1"/>
              <p:nvPr/>
            </p:nvSpPr>
            <p:spPr>
              <a:xfrm>
                <a:off x="2818200" y="2632491"/>
                <a:ext cx="1406798" cy="2740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500" dirty="0">
                    <a:ln/>
                    <a:solidFill>
                      <a:srgbClr val="000000"/>
                    </a:solidFill>
                    <a:latin typeface="Arial" panose="020B0604020202020204" pitchFamily="34" charset="0"/>
                    <a:ea typeface="Apple Color Emoji"/>
                    <a:cs typeface="Arial" panose="020B0604020202020204" pitchFamily="34" charset="0"/>
                    <a:sym typeface="Apple Color Emoji"/>
                    <a:rtl val="0"/>
                  </a:rPr>
                  <a:t>📦</a:t>
                </a:r>
                <a:r>
                  <a:rPr lang="en-US" sz="1500" dirty="0">
                    <a:ln/>
                    <a:solidFill>
                      <a:srgbClr val="000000"/>
                    </a:solidFill>
                    <a:latin typeface="Arial" panose="020B0604020202020204" pitchFamily="34" charset="0"/>
                    <a:ea typeface="Apple Color Emoji"/>
                    <a:cs typeface="Arial" panose="020B0604020202020204" pitchFamily="34" charset="0"/>
                    <a:sym typeface="Helvetica"/>
                    <a:rtl val="0"/>
                  </a:rPr>
                  <a:t> Objects (×N)</a:t>
                </a:r>
              </a:p>
            </p:txBody>
          </p:sp>
        </p:grpSp>
        <p:grpSp>
          <p:nvGrpSpPr>
            <p:cNvPr id="732" name="Graphic 3">
              <a:extLst>
                <a:ext uri="{FF2B5EF4-FFF2-40B4-BE49-F238E27FC236}">
                  <a16:creationId xmlns:a16="http://schemas.microsoft.com/office/drawing/2014/main" id="{3F67AE6D-F631-8869-9EF1-21B3BE4666A3}"/>
                </a:ext>
              </a:extLst>
            </p:cNvPr>
            <p:cNvGrpSpPr/>
            <p:nvPr/>
          </p:nvGrpSpPr>
          <p:grpSpPr>
            <a:xfrm>
              <a:off x="2787244" y="3094037"/>
              <a:ext cx="1468710" cy="446760"/>
              <a:chOff x="2787244" y="3094037"/>
              <a:chExt cx="1468710" cy="446760"/>
            </a:xfrm>
          </p:grpSpPr>
          <p:sp>
            <p:nvSpPr>
              <p:cNvPr id="733" name="Rounded Rectangle 732">
                <a:extLst>
                  <a:ext uri="{FF2B5EF4-FFF2-40B4-BE49-F238E27FC236}">
                    <a16:creationId xmlns:a16="http://schemas.microsoft.com/office/drawing/2014/main" id="{6C550279-B099-B8ED-5055-CE43BFA17DA9}"/>
                  </a:ext>
                </a:extLst>
              </p:cNvPr>
              <p:cNvSpPr/>
              <p:nvPr/>
            </p:nvSpPr>
            <p:spPr>
              <a:xfrm>
                <a:off x="2787244" y="3094037"/>
                <a:ext cx="1468710" cy="446760"/>
              </a:xfrm>
              <a:prstGeom prst="roundRect">
                <a:avLst>
                  <a:gd name="adj" fmla="val 9701"/>
                </a:avLst>
              </a:prstGeom>
              <a:solidFill>
                <a:srgbClr val="D5E8D4"/>
              </a:solidFill>
              <a:ln w="8633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" name="TextBox 733">
                <a:extLst>
                  <a:ext uri="{FF2B5EF4-FFF2-40B4-BE49-F238E27FC236}">
                    <a16:creationId xmlns:a16="http://schemas.microsoft.com/office/drawing/2014/main" id="{8B9B32CB-C086-6975-EE2F-6B4E086BEF39}"/>
                  </a:ext>
                </a:extLst>
              </p:cNvPr>
              <p:cNvSpPr txBox="1"/>
              <p:nvPr/>
            </p:nvSpPr>
            <p:spPr>
              <a:xfrm>
                <a:off x="3028416" y="3179057"/>
                <a:ext cx="917319" cy="2740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500" dirty="0">
                    <a:ln/>
                    <a:solidFill>
                      <a:srgbClr val="000000"/>
                    </a:solidFill>
                    <a:latin typeface="Arial" panose="020B0604020202020204" pitchFamily="34" charset="0"/>
                    <a:ea typeface="Apple Color Emoji"/>
                    <a:cs typeface="Arial" panose="020B0604020202020204" pitchFamily="34" charset="0"/>
                    <a:sym typeface="Apple Color Emoji"/>
                    <a:rtl val="0"/>
                  </a:rPr>
                  <a:t>🪑</a:t>
                </a:r>
                <a:r>
                  <a:rPr lang="en-US" sz="1500" dirty="0">
                    <a:ln/>
                    <a:solidFill>
                      <a:srgbClr val="000000"/>
                    </a:solidFill>
                    <a:latin typeface="Arial" panose="020B0604020202020204" pitchFamily="34" charset="0"/>
                    <a:ea typeface="Apple Color Emoji"/>
                    <a:cs typeface="Arial" panose="020B0604020202020204" pitchFamily="34" charset="0"/>
                    <a:sym typeface="Helvetica"/>
                    <a:rtl val="0"/>
                  </a:rPr>
                  <a:t> Tables</a:t>
                </a:r>
              </a:p>
            </p:txBody>
          </p:sp>
        </p:grpSp>
        <p:grpSp>
          <p:nvGrpSpPr>
            <p:cNvPr id="735" name="Graphic 3">
              <a:extLst>
                <a:ext uri="{FF2B5EF4-FFF2-40B4-BE49-F238E27FC236}">
                  <a16:creationId xmlns:a16="http://schemas.microsoft.com/office/drawing/2014/main" id="{90DA11FA-B177-7273-227A-08249FB3B7A8}"/>
                </a:ext>
              </a:extLst>
            </p:cNvPr>
            <p:cNvGrpSpPr/>
            <p:nvPr/>
          </p:nvGrpSpPr>
          <p:grpSpPr>
            <a:xfrm>
              <a:off x="2787245" y="3643899"/>
              <a:ext cx="1468710" cy="356217"/>
              <a:chOff x="2787245" y="3643899"/>
              <a:chExt cx="1468710" cy="356217"/>
            </a:xfrm>
          </p:grpSpPr>
          <p:sp>
            <p:nvSpPr>
              <p:cNvPr id="736" name="Rounded Rectangle 735">
                <a:extLst>
                  <a:ext uri="{FF2B5EF4-FFF2-40B4-BE49-F238E27FC236}">
                    <a16:creationId xmlns:a16="http://schemas.microsoft.com/office/drawing/2014/main" id="{CA78A8FD-A9FE-BAF0-1DAD-62AC365FD876}"/>
                  </a:ext>
                </a:extLst>
              </p:cNvPr>
              <p:cNvSpPr/>
              <p:nvPr/>
            </p:nvSpPr>
            <p:spPr>
              <a:xfrm>
                <a:off x="2787245" y="3643899"/>
                <a:ext cx="1468710" cy="356217"/>
              </a:xfrm>
              <a:prstGeom prst="roundRect">
                <a:avLst>
                  <a:gd name="adj" fmla="val 9701"/>
                </a:avLst>
              </a:prstGeom>
              <a:solidFill>
                <a:srgbClr val="D0E0F0"/>
              </a:solidFill>
              <a:ln w="8633" cap="flat">
                <a:solidFill>
                  <a:srgbClr val="5090C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" name="TextBox 736">
                <a:extLst>
                  <a:ext uri="{FF2B5EF4-FFF2-40B4-BE49-F238E27FC236}">
                    <a16:creationId xmlns:a16="http://schemas.microsoft.com/office/drawing/2014/main" id="{808D4D4B-8A6A-541E-1DB6-DF010DC2F0B9}"/>
                  </a:ext>
                </a:extLst>
              </p:cNvPr>
              <p:cNvSpPr txBox="1"/>
              <p:nvPr/>
            </p:nvSpPr>
            <p:spPr>
              <a:xfrm>
                <a:off x="2872381" y="3678995"/>
                <a:ext cx="1350001" cy="2740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500" dirty="0">
                    <a:ln/>
                    <a:solidFill>
                      <a:srgbClr val="000000"/>
                    </a:solidFill>
                    <a:latin typeface="Arial" panose="020B0604020202020204" pitchFamily="34" charset="0"/>
                    <a:ea typeface="Apple Color Emoji"/>
                    <a:cs typeface="Arial" panose="020B0604020202020204" pitchFamily="34" charset="0"/>
                    <a:sym typeface="Apple Color Emoji"/>
                    <a:rtl val="0"/>
                  </a:rPr>
                  <a:t>🤖</a:t>
                </a:r>
                <a:r>
                  <a:rPr lang="en-US" sz="1500" dirty="0">
                    <a:ln/>
                    <a:solidFill>
                      <a:srgbClr val="000000"/>
                    </a:solidFill>
                    <a:latin typeface="Arial" panose="020B0604020202020204" pitchFamily="34" charset="0"/>
                    <a:ea typeface="Apple Color Emoji"/>
                    <a:cs typeface="Arial" panose="020B0604020202020204" pitchFamily="34" charset="0"/>
                    <a:sym typeface="Helvetica"/>
                    <a:rtl val="0"/>
                  </a:rPr>
                  <a:t> Robot Links</a:t>
                </a:r>
              </a:p>
            </p:txBody>
          </p:sp>
        </p:grpSp>
        <p:sp>
          <p:nvSpPr>
            <p:cNvPr id="747" name="Rounded Rectangle 746">
              <a:extLst>
                <a:ext uri="{FF2B5EF4-FFF2-40B4-BE49-F238E27FC236}">
                  <a16:creationId xmlns:a16="http://schemas.microsoft.com/office/drawing/2014/main" id="{8BE5DD0F-02F1-3B77-E15C-1942F5F86547}"/>
                </a:ext>
              </a:extLst>
            </p:cNvPr>
            <p:cNvSpPr/>
            <p:nvPr/>
          </p:nvSpPr>
          <p:spPr>
            <a:xfrm>
              <a:off x="2657653" y="4226534"/>
              <a:ext cx="1727894" cy="1157707"/>
            </a:xfrm>
            <a:prstGeom prst="roundRect">
              <a:avLst>
                <a:gd name="adj" fmla="val 7761"/>
              </a:avLst>
            </a:prstGeom>
            <a:solidFill>
              <a:srgbClr val="F8CECC"/>
            </a:solidFill>
            <a:ln w="17266" cap="flat">
              <a:solidFill>
                <a:srgbClr val="B854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48" name="Graphic 3">
              <a:extLst>
                <a:ext uri="{FF2B5EF4-FFF2-40B4-BE49-F238E27FC236}">
                  <a16:creationId xmlns:a16="http://schemas.microsoft.com/office/drawing/2014/main" id="{A3FD049B-382C-BA13-C1F1-955848C013D7}"/>
                </a:ext>
              </a:extLst>
            </p:cNvPr>
            <p:cNvGrpSpPr/>
            <p:nvPr/>
          </p:nvGrpSpPr>
          <p:grpSpPr>
            <a:xfrm>
              <a:off x="2787245" y="4271061"/>
              <a:ext cx="1468710" cy="269756"/>
              <a:chOff x="2787245" y="4271061"/>
              <a:chExt cx="1468710" cy="269756"/>
            </a:xfrm>
          </p:grpSpPr>
          <p:sp>
            <p:nvSpPr>
              <p:cNvPr id="749" name="Rectangle 748">
                <a:extLst>
                  <a:ext uri="{FF2B5EF4-FFF2-40B4-BE49-F238E27FC236}">
                    <a16:creationId xmlns:a16="http://schemas.microsoft.com/office/drawing/2014/main" id="{26579342-93E5-CABD-0CE8-2BB53D50693B}"/>
                  </a:ext>
                </a:extLst>
              </p:cNvPr>
              <p:cNvSpPr/>
              <p:nvPr/>
            </p:nvSpPr>
            <p:spPr>
              <a:xfrm>
                <a:off x="2787245" y="4271061"/>
                <a:ext cx="1468710" cy="195919"/>
              </a:xfrm>
              <a:prstGeom prst="rect">
                <a:avLst/>
              </a:prstGeom>
              <a:noFill/>
              <a:ln w="863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" name="TextBox 749">
                <a:extLst>
                  <a:ext uri="{FF2B5EF4-FFF2-40B4-BE49-F238E27FC236}">
                    <a16:creationId xmlns:a16="http://schemas.microsoft.com/office/drawing/2014/main" id="{08479510-C25E-BB1D-FDA8-B2AC045424BB}"/>
                  </a:ext>
                </a:extLst>
              </p:cNvPr>
              <p:cNvSpPr txBox="1"/>
              <p:nvPr/>
            </p:nvSpPr>
            <p:spPr>
              <a:xfrm>
                <a:off x="2865860" y="4292832"/>
                <a:ext cx="1330571" cy="2479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300" dirty="0" err="1">
                    <a:ln/>
                    <a:solidFill>
                      <a:srgbClr val="B85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Helvetica"/>
                    <a:rtl val="0"/>
                  </a:rPr>
                  <a:t>MuJoCo</a:t>
                </a:r>
                <a:r>
                  <a:rPr lang="en-US" sz="1300" dirty="0">
                    <a:ln/>
                    <a:solidFill>
                      <a:srgbClr val="B85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Helvetica"/>
                    <a:rtl val="0"/>
                  </a:rPr>
                  <a:t> Physics</a:t>
                </a:r>
              </a:p>
            </p:txBody>
          </p:sp>
        </p:grpSp>
        <p:grpSp>
          <p:nvGrpSpPr>
            <p:cNvPr id="751" name="Graphic 3">
              <a:extLst>
                <a:ext uri="{FF2B5EF4-FFF2-40B4-BE49-F238E27FC236}">
                  <a16:creationId xmlns:a16="http://schemas.microsoft.com/office/drawing/2014/main" id="{BFFB4927-6606-5DFC-A88A-5CEBC00EB201}"/>
                </a:ext>
              </a:extLst>
            </p:cNvPr>
            <p:cNvGrpSpPr/>
            <p:nvPr/>
          </p:nvGrpSpPr>
          <p:grpSpPr>
            <a:xfrm>
              <a:off x="2751961" y="4493697"/>
              <a:ext cx="1374401" cy="241475"/>
              <a:chOff x="2751961" y="4493697"/>
              <a:chExt cx="1374401" cy="241475"/>
            </a:xfrm>
          </p:grpSpPr>
          <p:sp>
            <p:nvSpPr>
              <p:cNvPr id="752" name="Rectangle 751">
                <a:extLst>
                  <a:ext uri="{FF2B5EF4-FFF2-40B4-BE49-F238E27FC236}">
                    <a16:creationId xmlns:a16="http://schemas.microsoft.com/office/drawing/2014/main" id="{8248F8EE-D86E-DD7B-876F-95293AA02DC3}"/>
                  </a:ext>
                </a:extLst>
              </p:cNvPr>
              <p:cNvSpPr/>
              <p:nvPr/>
            </p:nvSpPr>
            <p:spPr>
              <a:xfrm>
                <a:off x="2830442" y="4493697"/>
                <a:ext cx="1295920" cy="160297"/>
              </a:xfrm>
              <a:prstGeom prst="rect">
                <a:avLst/>
              </a:prstGeom>
              <a:noFill/>
              <a:ln w="863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3" name="TextBox 752">
                <a:extLst>
                  <a:ext uri="{FF2B5EF4-FFF2-40B4-BE49-F238E27FC236}">
                    <a16:creationId xmlns:a16="http://schemas.microsoft.com/office/drawing/2014/main" id="{CCD68514-F9A9-7187-712F-09F79010EED3}"/>
                  </a:ext>
                </a:extLst>
              </p:cNvPr>
              <p:cNvSpPr txBox="1"/>
              <p:nvPr/>
            </p:nvSpPr>
            <p:spPr>
              <a:xfrm>
                <a:off x="2751961" y="4526343"/>
                <a:ext cx="1118324" cy="2088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555555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Helvetica"/>
                    <a:rtl val="0"/>
                  </a:rPr>
                  <a:t>Contact dynamics</a:t>
                </a:r>
              </a:p>
            </p:txBody>
          </p:sp>
        </p:grpSp>
        <p:grpSp>
          <p:nvGrpSpPr>
            <p:cNvPr id="754" name="Graphic 3">
              <a:extLst>
                <a:ext uri="{FF2B5EF4-FFF2-40B4-BE49-F238E27FC236}">
                  <a16:creationId xmlns:a16="http://schemas.microsoft.com/office/drawing/2014/main" id="{7B30E240-201C-BF59-A4C8-E916A4744CC5}"/>
                </a:ext>
              </a:extLst>
            </p:cNvPr>
            <p:cNvGrpSpPr/>
            <p:nvPr/>
          </p:nvGrpSpPr>
          <p:grpSpPr>
            <a:xfrm>
              <a:off x="2751961" y="4671805"/>
              <a:ext cx="1374401" cy="241476"/>
              <a:chOff x="2751961" y="4671805"/>
              <a:chExt cx="1374401" cy="241476"/>
            </a:xfrm>
          </p:grpSpPr>
          <p:sp>
            <p:nvSpPr>
              <p:cNvPr id="755" name="Rectangle 754">
                <a:extLst>
                  <a:ext uri="{FF2B5EF4-FFF2-40B4-BE49-F238E27FC236}">
                    <a16:creationId xmlns:a16="http://schemas.microsoft.com/office/drawing/2014/main" id="{512E8DBC-DF4F-B53E-00FF-ABC36A55BAE6}"/>
                  </a:ext>
                </a:extLst>
              </p:cNvPr>
              <p:cNvSpPr/>
              <p:nvPr/>
            </p:nvSpPr>
            <p:spPr>
              <a:xfrm>
                <a:off x="2830442" y="4671805"/>
                <a:ext cx="1295920" cy="160297"/>
              </a:xfrm>
              <a:prstGeom prst="rect">
                <a:avLst/>
              </a:prstGeom>
              <a:noFill/>
              <a:ln w="863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6" name="TextBox 755">
                <a:extLst>
                  <a:ext uri="{FF2B5EF4-FFF2-40B4-BE49-F238E27FC236}">
                    <a16:creationId xmlns:a16="http://schemas.microsoft.com/office/drawing/2014/main" id="{AA2F5C63-8714-E75D-7D3F-410492B282F9}"/>
                  </a:ext>
                </a:extLst>
              </p:cNvPr>
              <p:cNvSpPr txBox="1"/>
              <p:nvPr/>
            </p:nvSpPr>
            <p:spPr>
              <a:xfrm>
                <a:off x="2751961" y="4704452"/>
                <a:ext cx="1066010" cy="2088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>
                    <a:ln/>
                    <a:solidFill>
                      <a:srgbClr val="555555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Helvetica"/>
                    <a:rtl val="0"/>
                  </a:rPr>
                  <a:t>Grasp simulation</a:t>
                </a:r>
              </a:p>
            </p:txBody>
          </p:sp>
        </p:grpSp>
        <p:grpSp>
          <p:nvGrpSpPr>
            <p:cNvPr id="757" name="Graphic 3">
              <a:extLst>
                <a:ext uri="{FF2B5EF4-FFF2-40B4-BE49-F238E27FC236}">
                  <a16:creationId xmlns:a16="http://schemas.microsoft.com/office/drawing/2014/main" id="{FC7F9EC8-4DCB-9985-0398-D46220B6B880}"/>
                </a:ext>
              </a:extLst>
            </p:cNvPr>
            <p:cNvGrpSpPr/>
            <p:nvPr/>
          </p:nvGrpSpPr>
          <p:grpSpPr>
            <a:xfrm>
              <a:off x="2751961" y="4849914"/>
              <a:ext cx="1592140" cy="241475"/>
              <a:chOff x="2751961" y="4849914"/>
              <a:chExt cx="1592140" cy="241475"/>
            </a:xfrm>
          </p:grpSpPr>
          <p:sp>
            <p:nvSpPr>
              <p:cNvPr id="758" name="Rectangle 757">
                <a:extLst>
                  <a:ext uri="{FF2B5EF4-FFF2-40B4-BE49-F238E27FC236}">
                    <a16:creationId xmlns:a16="http://schemas.microsoft.com/office/drawing/2014/main" id="{D1FF4D54-6CEB-8806-38DC-623EE9FE7BCA}"/>
                  </a:ext>
                </a:extLst>
              </p:cNvPr>
              <p:cNvSpPr/>
              <p:nvPr/>
            </p:nvSpPr>
            <p:spPr>
              <a:xfrm>
                <a:off x="2830442" y="4849914"/>
                <a:ext cx="1382315" cy="160297"/>
              </a:xfrm>
              <a:prstGeom prst="rect">
                <a:avLst/>
              </a:prstGeom>
              <a:noFill/>
              <a:ln w="863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" name="TextBox 758">
                <a:extLst>
                  <a:ext uri="{FF2B5EF4-FFF2-40B4-BE49-F238E27FC236}">
                    <a16:creationId xmlns:a16="http://schemas.microsoft.com/office/drawing/2014/main" id="{F0F8040D-ECF4-2AE3-3185-828B8AD54359}"/>
                  </a:ext>
                </a:extLst>
              </p:cNvPr>
              <p:cNvSpPr txBox="1"/>
              <p:nvPr/>
            </p:nvSpPr>
            <p:spPr>
              <a:xfrm>
                <a:off x="2751961" y="4882560"/>
                <a:ext cx="1592140" cy="2088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>
                    <a:ln/>
                    <a:solidFill>
                      <a:srgbClr val="555555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Helvetica"/>
                    <a:rtl val="0"/>
                  </a:rPr>
                  <a:t>Collision (CoACD meshes)</a:t>
                </a:r>
              </a:p>
            </p:txBody>
          </p:sp>
        </p:grpSp>
        <p:grpSp>
          <p:nvGrpSpPr>
            <p:cNvPr id="760" name="Graphic 3">
              <a:extLst>
                <a:ext uri="{FF2B5EF4-FFF2-40B4-BE49-F238E27FC236}">
                  <a16:creationId xmlns:a16="http://schemas.microsoft.com/office/drawing/2014/main" id="{E00338C7-E763-AB2B-4608-6C2E24314767}"/>
                </a:ext>
              </a:extLst>
            </p:cNvPr>
            <p:cNvGrpSpPr/>
            <p:nvPr/>
          </p:nvGrpSpPr>
          <p:grpSpPr>
            <a:xfrm>
              <a:off x="2671694" y="5045834"/>
              <a:ext cx="1734136" cy="249352"/>
              <a:chOff x="2671694" y="5045834"/>
              <a:chExt cx="1734136" cy="249352"/>
            </a:xfrm>
          </p:grpSpPr>
          <p:sp>
            <p:nvSpPr>
              <p:cNvPr id="761" name="Rectangle 760">
                <a:extLst>
                  <a:ext uri="{FF2B5EF4-FFF2-40B4-BE49-F238E27FC236}">
                    <a16:creationId xmlns:a16="http://schemas.microsoft.com/office/drawing/2014/main" id="{1F5D3C45-619E-6A40-E6FC-BC2F48FE5DA2}"/>
                  </a:ext>
                </a:extLst>
              </p:cNvPr>
              <p:cNvSpPr/>
              <p:nvPr/>
            </p:nvSpPr>
            <p:spPr>
              <a:xfrm>
                <a:off x="2830442" y="5045834"/>
                <a:ext cx="1382315" cy="160297"/>
              </a:xfrm>
              <a:prstGeom prst="rect">
                <a:avLst/>
              </a:prstGeom>
              <a:noFill/>
              <a:ln w="863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" name="TextBox 761">
                <a:extLst>
                  <a:ext uri="{FF2B5EF4-FFF2-40B4-BE49-F238E27FC236}">
                    <a16:creationId xmlns:a16="http://schemas.microsoft.com/office/drawing/2014/main" id="{4358D786-7E95-81AE-55F4-0F3F85E49974}"/>
                  </a:ext>
                </a:extLst>
              </p:cNvPr>
              <p:cNvSpPr txBox="1"/>
              <p:nvPr/>
            </p:nvSpPr>
            <p:spPr>
              <a:xfrm>
                <a:off x="2671694" y="5086357"/>
                <a:ext cx="1734136" cy="2088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u="sng" dirty="0">
                    <a:ln/>
                    <a:solidFill>
                      <a:srgbClr val="555555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Times New Roman"/>
                    <a:rtl val="0"/>
                  </a:rPr>
                  <a:t>→</a:t>
                </a:r>
                <a:r>
                  <a:rPr lang="en-US" sz="1000" b="1" u="sng" dirty="0">
                    <a:ln/>
                    <a:solidFill>
                      <a:srgbClr val="555555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Helvetica"/>
                    <a:rtl val="0"/>
                  </a:rPr>
                  <a:t> Pose log (SE3 per frame)</a:t>
                </a:r>
              </a:p>
            </p:txBody>
          </p:sp>
        </p:grpSp>
        <p:grpSp>
          <p:nvGrpSpPr>
            <p:cNvPr id="763" name="Graphic 3">
              <a:extLst>
                <a:ext uri="{FF2B5EF4-FFF2-40B4-BE49-F238E27FC236}">
                  <a16:creationId xmlns:a16="http://schemas.microsoft.com/office/drawing/2014/main" id="{27BA3682-2B25-816B-3C7A-4E1E4CBCC25C}"/>
                </a:ext>
              </a:extLst>
            </p:cNvPr>
            <p:cNvGrpSpPr/>
            <p:nvPr/>
          </p:nvGrpSpPr>
          <p:grpSpPr>
            <a:xfrm>
              <a:off x="2616505" y="3123506"/>
              <a:ext cx="2440847" cy="2550369"/>
              <a:chOff x="2616505" y="3123506"/>
              <a:chExt cx="2440847" cy="2550369"/>
            </a:xfrm>
          </p:grpSpPr>
          <p:grpSp>
            <p:nvGrpSpPr>
              <p:cNvPr id="764" name="Graphic 3">
                <a:extLst>
                  <a:ext uri="{FF2B5EF4-FFF2-40B4-BE49-F238E27FC236}">
                    <a16:creationId xmlns:a16="http://schemas.microsoft.com/office/drawing/2014/main" id="{4A514124-2E32-DBDE-8A47-5F49AC23E973}"/>
                  </a:ext>
                </a:extLst>
              </p:cNvPr>
              <p:cNvGrpSpPr/>
              <p:nvPr/>
            </p:nvGrpSpPr>
            <p:grpSpPr>
              <a:xfrm>
                <a:off x="4385547" y="3123506"/>
                <a:ext cx="671805" cy="1681881"/>
                <a:chOff x="4385547" y="3123506"/>
                <a:chExt cx="671805" cy="1681881"/>
              </a:xfrm>
            </p:grpSpPr>
            <p:sp>
              <p:nvSpPr>
                <p:cNvPr id="765" name="Freeform 764">
                  <a:extLst>
                    <a:ext uri="{FF2B5EF4-FFF2-40B4-BE49-F238E27FC236}">
                      <a16:creationId xmlns:a16="http://schemas.microsoft.com/office/drawing/2014/main" id="{1EF373AE-61E2-4AAC-FE77-01A95DA22BDB}"/>
                    </a:ext>
                  </a:extLst>
                </p:cNvPr>
                <p:cNvSpPr/>
                <p:nvPr/>
              </p:nvSpPr>
              <p:spPr>
                <a:xfrm>
                  <a:off x="4385547" y="3159128"/>
                  <a:ext cx="619968" cy="1646259"/>
                </a:xfrm>
                <a:custGeom>
                  <a:avLst/>
                  <a:gdLst>
                    <a:gd name="csX0" fmla="*/ 1 w 619968"/>
                    <a:gd name="csY0" fmla="*/ 1646260 h 1646259"/>
                    <a:gd name="csX1" fmla="*/ 259185 w 619968"/>
                    <a:gd name="csY1" fmla="*/ 1646260 h 1646259"/>
                    <a:gd name="csX2" fmla="*/ 345579 w 619968"/>
                    <a:gd name="csY2" fmla="*/ 1557206 h 1646259"/>
                    <a:gd name="csX3" fmla="*/ 345579 w 619968"/>
                    <a:gd name="csY3" fmla="*/ 89055 h 1646259"/>
                    <a:gd name="csX4" fmla="*/ 431974 w 619968"/>
                    <a:gd name="csY4" fmla="*/ 1 h 1646259"/>
                    <a:gd name="csX5" fmla="*/ 619969 w 619968"/>
                    <a:gd name="csY5" fmla="*/ 1 h 16462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619968" h="1646259">
                      <a:moveTo>
                        <a:pt x="1" y="1646260"/>
                      </a:moveTo>
                      <a:lnTo>
                        <a:pt x="259185" y="1646260"/>
                      </a:lnTo>
                      <a:cubicBezTo>
                        <a:pt x="316781" y="1646260"/>
                        <a:pt x="345579" y="1616575"/>
                        <a:pt x="345579" y="1557206"/>
                      </a:cubicBezTo>
                      <a:lnTo>
                        <a:pt x="345579" y="89055"/>
                      </a:lnTo>
                      <a:cubicBezTo>
                        <a:pt x="345579" y="29685"/>
                        <a:pt x="374378" y="1"/>
                        <a:pt x="431974" y="1"/>
                      </a:cubicBezTo>
                      <a:lnTo>
                        <a:pt x="619969" y="1"/>
                      </a:lnTo>
                    </a:path>
                  </a:pathLst>
                </a:custGeom>
                <a:noFill/>
                <a:ln w="17266" cap="flat">
                  <a:solidFill>
                    <a:srgbClr val="B8545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" name="Freeform 765">
                  <a:extLst>
                    <a:ext uri="{FF2B5EF4-FFF2-40B4-BE49-F238E27FC236}">
                      <a16:creationId xmlns:a16="http://schemas.microsoft.com/office/drawing/2014/main" id="{C3339E60-0337-E64B-18C7-4A289DE79E67}"/>
                    </a:ext>
                  </a:extLst>
                </p:cNvPr>
                <p:cNvSpPr/>
                <p:nvPr/>
              </p:nvSpPr>
              <p:spPr>
                <a:xfrm>
                  <a:off x="4988237" y="3123506"/>
                  <a:ext cx="69115" cy="71243"/>
                </a:xfrm>
                <a:custGeom>
                  <a:avLst/>
                  <a:gdLst>
                    <a:gd name="csX0" fmla="*/ 69116 w 69115"/>
                    <a:gd name="csY0" fmla="*/ 35622 h 71243"/>
                    <a:gd name="csX1" fmla="*/ 1 w 69115"/>
                    <a:gd name="csY1" fmla="*/ 71244 h 71243"/>
                    <a:gd name="csX2" fmla="*/ 17279 w 69115"/>
                    <a:gd name="csY2" fmla="*/ 35622 h 71243"/>
                    <a:gd name="csX3" fmla="*/ 1 w 69115"/>
                    <a:gd name="csY3" fmla="*/ 1 h 7124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9115" h="71243">
                      <a:moveTo>
                        <a:pt x="69116" y="35622"/>
                      </a:moveTo>
                      <a:lnTo>
                        <a:pt x="1" y="71244"/>
                      </a:lnTo>
                      <a:lnTo>
                        <a:pt x="17279" y="35622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B85450"/>
                </a:solidFill>
                <a:ln w="17266" cap="flat">
                  <a:solidFill>
                    <a:srgbClr val="B8545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033E49FD-30CE-A164-8081-E30AC1F12586}"/>
                  </a:ext>
                </a:extLst>
              </p:cNvPr>
              <p:cNvSpPr txBox="1"/>
              <p:nvPr/>
            </p:nvSpPr>
            <p:spPr>
              <a:xfrm>
                <a:off x="2616505" y="5425890"/>
                <a:ext cx="1931434" cy="2479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300" dirty="0">
                    <a:ln/>
                    <a:solidFill>
                      <a:srgbClr val="B85450"/>
                    </a:solidFill>
                    <a:latin typeface="Helvetica"/>
                    <a:sym typeface="Helvetica"/>
                    <a:rtl val="0"/>
                  </a:rPr>
                  <a:t>SE(3) per body per frame</a:t>
                </a:r>
              </a:p>
            </p:txBody>
          </p:sp>
        </p:grpSp>
        <p:sp>
          <p:nvSpPr>
            <p:cNvPr id="768" name="Rounded Rectangle 767">
              <a:extLst>
                <a:ext uri="{FF2B5EF4-FFF2-40B4-BE49-F238E27FC236}">
                  <a16:creationId xmlns:a16="http://schemas.microsoft.com/office/drawing/2014/main" id="{0F1373D1-295A-125F-D213-0C21D2441F5B}"/>
                </a:ext>
              </a:extLst>
            </p:cNvPr>
            <p:cNvSpPr/>
            <p:nvPr/>
          </p:nvSpPr>
          <p:spPr>
            <a:xfrm>
              <a:off x="5078098" y="1418066"/>
              <a:ext cx="2663306" cy="4138312"/>
            </a:xfrm>
            <a:prstGeom prst="roundRect">
              <a:avLst>
                <a:gd name="adj" fmla="val 5234"/>
              </a:avLst>
            </a:prstGeom>
            <a:solidFill>
              <a:srgbClr val="E1D5E7"/>
            </a:solidFill>
            <a:ln w="17266" cap="flat">
              <a:solidFill>
                <a:srgbClr val="9673A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69" name="Graphic 3">
              <a:extLst>
                <a:ext uri="{FF2B5EF4-FFF2-40B4-BE49-F238E27FC236}">
                  <a16:creationId xmlns:a16="http://schemas.microsoft.com/office/drawing/2014/main" id="{B04DF212-0BA6-8A9F-F36D-A6F6887D9526}"/>
                </a:ext>
              </a:extLst>
            </p:cNvPr>
            <p:cNvGrpSpPr/>
            <p:nvPr/>
          </p:nvGrpSpPr>
          <p:grpSpPr>
            <a:xfrm>
              <a:off x="5147061" y="1510771"/>
              <a:ext cx="2590590" cy="845620"/>
              <a:chOff x="5147061" y="1510771"/>
              <a:chExt cx="2590590" cy="845620"/>
            </a:xfrm>
          </p:grpSpPr>
          <p:sp>
            <p:nvSpPr>
              <p:cNvPr id="770" name="Rectangle 769">
                <a:extLst>
                  <a:ext uri="{FF2B5EF4-FFF2-40B4-BE49-F238E27FC236}">
                    <a16:creationId xmlns:a16="http://schemas.microsoft.com/office/drawing/2014/main" id="{7F8608D8-AFE5-50B5-8460-09363451DCE8}"/>
                  </a:ext>
                </a:extLst>
              </p:cNvPr>
              <p:cNvSpPr/>
              <p:nvPr/>
            </p:nvSpPr>
            <p:spPr>
              <a:xfrm>
                <a:off x="5206297" y="2160472"/>
                <a:ext cx="2159868" cy="195919"/>
              </a:xfrm>
              <a:prstGeom prst="rect">
                <a:avLst/>
              </a:prstGeom>
              <a:noFill/>
              <a:ln w="863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1" name="TextBox 770">
                <a:extLst>
                  <a:ext uri="{FF2B5EF4-FFF2-40B4-BE49-F238E27FC236}">
                    <a16:creationId xmlns:a16="http://schemas.microsoft.com/office/drawing/2014/main" id="{9C7122DC-1F2E-BB7A-35F9-0E93BC590D1F}"/>
                  </a:ext>
                </a:extLst>
              </p:cNvPr>
              <p:cNvSpPr txBox="1"/>
              <p:nvPr/>
            </p:nvSpPr>
            <p:spPr>
              <a:xfrm>
                <a:off x="5147061" y="1510771"/>
                <a:ext cx="2590590" cy="2740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500" dirty="0">
                    <a:ln/>
                    <a:solidFill>
                      <a:srgbClr val="7C4D8F"/>
                    </a:solidFill>
                    <a:latin typeface="Helvetica"/>
                    <a:sym typeface="Helvetica"/>
                    <a:rtl val="0"/>
                  </a:rPr>
                  <a:t>Gaussian Composition Engine</a:t>
                </a:r>
              </a:p>
            </p:txBody>
          </p:sp>
        </p:grpSp>
        <p:grpSp>
          <p:nvGrpSpPr>
            <p:cNvPr id="772" name="Graphic 3">
              <a:extLst>
                <a:ext uri="{FF2B5EF4-FFF2-40B4-BE49-F238E27FC236}">
                  <a16:creationId xmlns:a16="http://schemas.microsoft.com/office/drawing/2014/main" id="{B4D05076-ACFA-09F5-75BF-8362D94010B0}"/>
                </a:ext>
              </a:extLst>
            </p:cNvPr>
            <p:cNvGrpSpPr/>
            <p:nvPr/>
          </p:nvGrpSpPr>
          <p:grpSpPr>
            <a:xfrm>
              <a:off x="5207690" y="1988734"/>
              <a:ext cx="2434038" cy="693811"/>
              <a:chOff x="5207690" y="1988734"/>
              <a:chExt cx="2434038" cy="693811"/>
            </a:xfrm>
          </p:grpSpPr>
          <p:sp>
            <p:nvSpPr>
              <p:cNvPr id="773" name="Rounded Rectangle 772">
                <a:extLst>
                  <a:ext uri="{FF2B5EF4-FFF2-40B4-BE49-F238E27FC236}">
                    <a16:creationId xmlns:a16="http://schemas.microsoft.com/office/drawing/2014/main" id="{C6B7F41A-EEB3-A1BE-E3AA-0E870D883C3B}"/>
                  </a:ext>
                </a:extLst>
              </p:cNvPr>
              <p:cNvSpPr/>
              <p:nvPr/>
            </p:nvSpPr>
            <p:spPr>
              <a:xfrm>
                <a:off x="5207690" y="1988734"/>
                <a:ext cx="2434038" cy="666402"/>
              </a:xfrm>
              <a:prstGeom prst="roundRect">
                <a:avLst>
                  <a:gd name="adj" fmla="val 7761"/>
                </a:avLst>
              </a:prstGeom>
              <a:solidFill>
                <a:srgbClr val="FFFFFF"/>
              </a:solidFill>
              <a:ln w="8633" cap="flat">
                <a:solidFill>
                  <a:srgbClr val="9673A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4" name="TextBox 773">
                <a:extLst>
                  <a:ext uri="{FF2B5EF4-FFF2-40B4-BE49-F238E27FC236}">
                    <a16:creationId xmlns:a16="http://schemas.microsoft.com/office/drawing/2014/main" id="{ED7F8FAB-4127-287E-E7DF-38F722A94BA6}"/>
                  </a:ext>
                </a:extLst>
              </p:cNvPr>
              <p:cNvSpPr txBox="1"/>
              <p:nvPr/>
            </p:nvSpPr>
            <p:spPr>
              <a:xfrm>
                <a:off x="5326891" y="2160472"/>
                <a:ext cx="2111857" cy="522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700" dirty="0">
                    <a:ln/>
                    <a:solidFill>
                      <a:srgbClr val="000000"/>
                    </a:solidFill>
                    <a:latin typeface="Arial" panose="020B0604020202020204" pitchFamily="34" charset="0"/>
                    <a:ea typeface="Cambria Math"/>
                    <a:cs typeface="Arial" panose="020B0604020202020204" pitchFamily="34" charset="0"/>
                    <a:sym typeface="Helvetica"/>
                    <a:rtl val="0"/>
                  </a:rPr>
                  <a:t>Rigid Transform</a:t>
                </a:r>
              </a:p>
              <a:p>
                <a:pPr algn="ctr"/>
                <a:endParaRPr lang="en-US" sz="1700" dirty="0">
                  <a:ln/>
                  <a:solidFill>
                    <a:srgbClr val="000000"/>
                  </a:solidFill>
                  <a:latin typeface="Arial" panose="020B0604020202020204" pitchFamily="34" charset="0"/>
                  <a:ea typeface="Cambria Math"/>
                  <a:cs typeface="Arial" panose="020B0604020202020204" pitchFamily="34" charset="0"/>
                  <a:sym typeface="Helvetica"/>
                  <a:rtl val="0"/>
                </a:endParaRPr>
              </a:p>
            </p:txBody>
          </p:sp>
        </p:grpSp>
        <p:grpSp>
          <p:nvGrpSpPr>
            <p:cNvPr id="775" name="Graphic 3">
              <a:extLst>
                <a:ext uri="{FF2B5EF4-FFF2-40B4-BE49-F238E27FC236}">
                  <a16:creationId xmlns:a16="http://schemas.microsoft.com/office/drawing/2014/main" id="{A15B207B-EFF3-10F7-C200-5888918BCA23}"/>
                </a:ext>
              </a:extLst>
            </p:cNvPr>
            <p:cNvGrpSpPr/>
            <p:nvPr/>
          </p:nvGrpSpPr>
          <p:grpSpPr>
            <a:xfrm>
              <a:off x="5221519" y="2741955"/>
              <a:ext cx="2423068" cy="757460"/>
              <a:chOff x="5221519" y="2741955"/>
              <a:chExt cx="2423068" cy="757460"/>
            </a:xfrm>
          </p:grpSpPr>
          <p:sp>
            <p:nvSpPr>
              <p:cNvPr id="776" name="Rounded Rectangle 775">
                <a:extLst>
                  <a:ext uri="{FF2B5EF4-FFF2-40B4-BE49-F238E27FC236}">
                    <a16:creationId xmlns:a16="http://schemas.microsoft.com/office/drawing/2014/main" id="{0BE0FEC4-F45E-D592-2E52-8C59EF2326E1}"/>
                  </a:ext>
                </a:extLst>
              </p:cNvPr>
              <p:cNvSpPr/>
              <p:nvPr/>
            </p:nvSpPr>
            <p:spPr>
              <a:xfrm>
                <a:off x="5221519" y="2741955"/>
                <a:ext cx="2420209" cy="751551"/>
              </a:xfrm>
              <a:prstGeom prst="roundRect">
                <a:avLst>
                  <a:gd name="adj" fmla="val 7761"/>
                </a:avLst>
              </a:prstGeom>
              <a:solidFill>
                <a:srgbClr val="FFFFFF"/>
              </a:solidFill>
              <a:ln w="8633" cap="flat">
                <a:solidFill>
                  <a:srgbClr val="9673A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7" name="TextBox 776">
                <a:extLst>
                  <a:ext uri="{FF2B5EF4-FFF2-40B4-BE49-F238E27FC236}">
                    <a16:creationId xmlns:a16="http://schemas.microsoft.com/office/drawing/2014/main" id="{3F6809CA-C05C-0BB9-EF10-CF07F67B44B7}"/>
                  </a:ext>
                </a:extLst>
              </p:cNvPr>
              <p:cNvSpPr txBox="1"/>
              <p:nvPr/>
            </p:nvSpPr>
            <p:spPr>
              <a:xfrm>
                <a:off x="5275209" y="2977341"/>
                <a:ext cx="2369378" cy="5220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700" dirty="0">
                    <a:ln/>
                    <a:solidFill>
                      <a:srgbClr val="000000"/>
                    </a:solidFill>
                    <a:latin typeface="Arial" panose="020B0604020202020204" pitchFamily="34" charset="0"/>
                    <a:ea typeface="Cambria Math"/>
                    <a:cs typeface="Arial" panose="020B0604020202020204" pitchFamily="34" charset="0"/>
                    <a:sym typeface="Helvetica"/>
                    <a:rtl val="0"/>
                  </a:rPr>
                  <a:t>Per Gaussian Relighting</a:t>
                </a:r>
              </a:p>
              <a:p>
                <a:pPr algn="ctr"/>
                <a:endParaRPr lang="en-US" sz="1700" dirty="0">
                  <a:ln/>
                  <a:solidFill>
                    <a:srgbClr val="000000"/>
                  </a:solidFill>
                  <a:latin typeface="Arial" panose="020B0604020202020204" pitchFamily="34" charset="0"/>
                  <a:ea typeface="Cambria Math"/>
                  <a:cs typeface="Arial" panose="020B0604020202020204" pitchFamily="34" charset="0"/>
                  <a:sym typeface="Helvetica"/>
                  <a:rtl val="0"/>
                </a:endParaRPr>
              </a:p>
            </p:txBody>
          </p:sp>
        </p:grpSp>
        <p:grpSp>
          <p:nvGrpSpPr>
            <p:cNvPr id="778" name="Graphic 3">
              <a:extLst>
                <a:ext uri="{FF2B5EF4-FFF2-40B4-BE49-F238E27FC236}">
                  <a16:creationId xmlns:a16="http://schemas.microsoft.com/office/drawing/2014/main" id="{39E6C76D-21DD-243D-590B-DD06E6757ED3}"/>
                </a:ext>
              </a:extLst>
            </p:cNvPr>
            <p:cNvGrpSpPr/>
            <p:nvPr/>
          </p:nvGrpSpPr>
          <p:grpSpPr>
            <a:xfrm>
              <a:off x="5213928" y="3591712"/>
              <a:ext cx="2474130" cy="663084"/>
              <a:chOff x="5213928" y="3591712"/>
              <a:chExt cx="2474130" cy="663084"/>
            </a:xfrm>
          </p:grpSpPr>
          <p:sp>
            <p:nvSpPr>
              <p:cNvPr id="779" name="Rounded Rectangle 778">
                <a:extLst>
                  <a:ext uri="{FF2B5EF4-FFF2-40B4-BE49-F238E27FC236}">
                    <a16:creationId xmlns:a16="http://schemas.microsoft.com/office/drawing/2014/main" id="{D7EE02E4-82E7-DE2E-67AD-FD9DF7B549D1}"/>
                  </a:ext>
                </a:extLst>
              </p:cNvPr>
              <p:cNvSpPr/>
              <p:nvPr/>
            </p:nvSpPr>
            <p:spPr>
              <a:xfrm>
                <a:off x="5253790" y="3591712"/>
                <a:ext cx="2382802" cy="621570"/>
              </a:xfrm>
              <a:prstGeom prst="roundRect">
                <a:avLst>
                  <a:gd name="adj" fmla="val 7761"/>
                </a:avLst>
              </a:prstGeom>
              <a:solidFill>
                <a:srgbClr val="FFFFFF"/>
              </a:solidFill>
              <a:ln w="8633" cap="flat">
                <a:solidFill>
                  <a:srgbClr val="9673A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80" name="TextBox 779">
                <a:extLst>
                  <a:ext uri="{FF2B5EF4-FFF2-40B4-BE49-F238E27FC236}">
                    <a16:creationId xmlns:a16="http://schemas.microsoft.com/office/drawing/2014/main" id="{44004455-B62A-CE71-2F07-F398806DEFFA}"/>
                  </a:ext>
                </a:extLst>
              </p:cNvPr>
              <p:cNvSpPr txBox="1"/>
              <p:nvPr/>
            </p:nvSpPr>
            <p:spPr>
              <a:xfrm>
                <a:off x="5213928" y="3732722"/>
                <a:ext cx="2474130" cy="5220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700" dirty="0">
                    <a:ln/>
                    <a:solidFill>
                      <a:srgbClr val="000000"/>
                    </a:solidFill>
                    <a:latin typeface="Arial" panose="020B0604020202020204" pitchFamily="34" charset="0"/>
                    <a:ea typeface="Cambria Math"/>
                    <a:cs typeface="Arial" panose="020B0604020202020204" pitchFamily="34" charset="0"/>
                    <a:sym typeface="Helvetica"/>
                    <a:rtl val="0"/>
                  </a:rPr>
                  <a:t>Cast shadow mapping</a:t>
                </a:r>
              </a:p>
              <a:p>
                <a:pPr algn="ctr"/>
                <a:endParaRPr lang="en-US" sz="1700" dirty="0">
                  <a:ln/>
                  <a:solidFill>
                    <a:srgbClr val="000000"/>
                  </a:solidFill>
                  <a:latin typeface="Arial" panose="020B0604020202020204" pitchFamily="34" charset="0"/>
                  <a:ea typeface="Cambria Math"/>
                  <a:cs typeface="Arial" panose="020B0604020202020204" pitchFamily="34" charset="0"/>
                  <a:sym typeface="Helvetica"/>
                  <a:rtl val="0"/>
                </a:endParaRPr>
              </a:p>
            </p:txBody>
          </p:sp>
        </p:grpSp>
        <p:grpSp>
          <p:nvGrpSpPr>
            <p:cNvPr id="781" name="Graphic 3">
              <a:extLst>
                <a:ext uri="{FF2B5EF4-FFF2-40B4-BE49-F238E27FC236}">
                  <a16:creationId xmlns:a16="http://schemas.microsoft.com/office/drawing/2014/main" id="{976636A5-0EE5-49E1-7431-96777D386029}"/>
                </a:ext>
              </a:extLst>
            </p:cNvPr>
            <p:cNvGrpSpPr/>
            <p:nvPr/>
          </p:nvGrpSpPr>
          <p:grpSpPr>
            <a:xfrm>
              <a:off x="5296463" y="4337095"/>
              <a:ext cx="2340127" cy="567231"/>
              <a:chOff x="5296463" y="4337095"/>
              <a:chExt cx="2340127" cy="567231"/>
            </a:xfrm>
          </p:grpSpPr>
          <p:sp>
            <p:nvSpPr>
              <p:cNvPr id="782" name="Rounded Rectangle 781">
                <a:extLst>
                  <a:ext uri="{FF2B5EF4-FFF2-40B4-BE49-F238E27FC236}">
                    <a16:creationId xmlns:a16="http://schemas.microsoft.com/office/drawing/2014/main" id="{307FF14D-BC7B-5012-E455-773A2E17CB74}"/>
                  </a:ext>
                </a:extLst>
              </p:cNvPr>
              <p:cNvSpPr/>
              <p:nvPr/>
            </p:nvSpPr>
            <p:spPr>
              <a:xfrm>
                <a:off x="5296463" y="4337095"/>
                <a:ext cx="2340127" cy="567231"/>
              </a:xfrm>
              <a:prstGeom prst="roundRect">
                <a:avLst>
                  <a:gd name="adj" fmla="val 7761"/>
                </a:avLst>
              </a:prstGeom>
              <a:solidFill>
                <a:srgbClr val="FFFFFF"/>
              </a:solidFill>
              <a:ln w="8633" cap="flat">
                <a:solidFill>
                  <a:srgbClr val="9673A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3" name="TextBox 782">
                <a:extLst>
                  <a:ext uri="{FF2B5EF4-FFF2-40B4-BE49-F238E27FC236}">
                    <a16:creationId xmlns:a16="http://schemas.microsoft.com/office/drawing/2014/main" id="{D2365AA5-4CF8-465E-549B-430E7997EE5A}"/>
                  </a:ext>
                </a:extLst>
              </p:cNvPr>
              <p:cNvSpPr txBox="1"/>
              <p:nvPr/>
            </p:nvSpPr>
            <p:spPr>
              <a:xfrm>
                <a:off x="5450151" y="4461751"/>
                <a:ext cx="1971790" cy="3001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700" dirty="0">
                    <a:ln/>
                    <a:solidFill>
                      <a:srgbClr val="000000"/>
                    </a:solidFill>
                    <a:latin typeface="Arial" panose="020B0604020202020204" pitchFamily="34" charset="0"/>
                    <a:ea typeface="Cambria Math"/>
                    <a:cs typeface="Arial" panose="020B0604020202020204" pitchFamily="34" charset="0"/>
                    <a:sym typeface="Helvetica"/>
                    <a:rtl val="0"/>
                  </a:rPr>
                  <a:t>3DGS Rasterization</a:t>
                </a:r>
              </a:p>
            </p:txBody>
          </p:sp>
        </p:grpSp>
        <p:grpSp>
          <p:nvGrpSpPr>
            <p:cNvPr id="784" name="Graphic 3">
              <a:extLst>
                <a:ext uri="{FF2B5EF4-FFF2-40B4-BE49-F238E27FC236}">
                  <a16:creationId xmlns:a16="http://schemas.microsoft.com/office/drawing/2014/main" id="{6AB79075-06C9-7EC1-A20C-65D4BFD35E80}"/>
                </a:ext>
              </a:extLst>
            </p:cNvPr>
            <p:cNvGrpSpPr/>
            <p:nvPr/>
          </p:nvGrpSpPr>
          <p:grpSpPr>
            <a:xfrm>
              <a:off x="4547940" y="2689261"/>
              <a:ext cx="514250" cy="503261"/>
              <a:chOff x="4547940" y="2689261"/>
              <a:chExt cx="514250" cy="503261"/>
            </a:xfrm>
          </p:grpSpPr>
          <p:sp>
            <p:nvSpPr>
              <p:cNvPr id="785" name="Freeform 784">
                <a:extLst>
                  <a:ext uri="{FF2B5EF4-FFF2-40B4-BE49-F238E27FC236}">
                    <a16:creationId xmlns:a16="http://schemas.microsoft.com/office/drawing/2014/main" id="{0FE47C76-9D2A-1CB4-A6A8-E238BBCB7867}"/>
                  </a:ext>
                </a:extLst>
              </p:cNvPr>
              <p:cNvSpPr/>
              <p:nvPr/>
            </p:nvSpPr>
            <p:spPr>
              <a:xfrm>
                <a:off x="4547940" y="2689261"/>
                <a:ext cx="465696" cy="469866"/>
              </a:xfrm>
              <a:custGeom>
                <a:avLst/>
                <a:gdLst>
                  <a:gd name="csX0" fmla="*/ 1 w 628089"/>
                  <a:gd name="csY0" fmla="*/ 1 h 468158"/>
                  <a:gd name="csX1" fmla="*/ 259185 w 628089"/>
                  <a:gd name="csY1" fmla="*/ 1 h 468158"/>
                  <a:gd name="csX2" fmla="*/ 345579 w 628089"/>
                  <a:gd name="csY2" fmla="*/ 89055 h 468158"/>
                  <a:gd name="csX3" fmla="*/ 345579 w 628089"/>
                  <a:gd name="csY3" fmla="*/ 379105 h 468158"/>
                  <a:gd name="csX4" fmla="*/ 431974 w 628089"/>
                  <a:gd name="csY4" fmla="*/ 468159 h 468158"/>
                  <a:gd name="csX5" fmla="*/ 628090 w 628089"/>
                  <a:gd name="csY5" fmla="*/ 468159 h 4681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28089" h="468158">
                    <a:moveTo>
                      <a:pt x="1" y="1"/>
                    </a:moveTo>
                    <a:lnTo>
                      <a:pt x="259185" y="1"/>
                    </a:lnTo>
                    <a:cubicBezTo>
                      <a:pt x="316781" y="1"/>
                      <a:pt x="345579" y="29685"/>
                      <a:pt x="345579" y="89055"/>
                    </a:cubicBezTo>
                    <a:lnTo>
                      <a:pt x="345579" y="379105"/>
                    </a:lnTo>
                    <a:cubicBezTo>
                      <a:pt x="345579" y="438475"/>
                      <a:pt x="374378" y="468159"/>
                      <a:pt x="431974" y="468159"/>
                    </a:cubicBezTo>
                    <a:lnTo>
                      <a:pt x="628090" y="468159"/>
                    </a:lnTo>
                  </a:path>
                </a:pathLst>
              </a:custGeom>
              <a:noFill/>
              <a:ln w="12950" cap="flat">
                <a:solidFill>
                  <a:srgbClr val="9673A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6" name="Freeform 785">
                <a:extLst>
                  <a:ext uri="{FF2B5EF4-FFF2-40B4-BE49-F238E27FC236}">
                    <a16:creationId xmlns:a16="http://schemas.microsoft.com/office/drawing/2014/main" id="{67C827AF-1AA1-2A75-B267-9239950406B6}"/>
                  </a:ext>
                </a:extLst>
              </p:cNvPr>
              <p:cNvSpPr/>
              <p:nvPr/>
            </p:nvSpPr>
            <p:spPr>
              <a:xfrm>
                <a:off x="4997394" y="3125732"/>
                <a:ext cx="64796" cy="66790"/>
              </a:xfrm>
              <a:custGeom>
                <a:avLst/>
                <a:gdLst>
                  <a:gd name="csX0" fmla="*/ 64797 w 64796"/>
                  <a:gd name="csY0" fmla="*/ 33396 h 66790"/>
                  <a:gd name="csX1" fmla="*/ 1 w 64796"/>
                  <a:gd name="csY1" fmla="*/ 66791 h 66790"/>
                  <a:gd name="csX2" fmla="*/ 16243 w 64796"/>
                  <a:gd name="csY2" fmla="*/ 33396 h 66790"/>
                  <a:gd name="csX3" fmla="*/ 1 w 64796"/>
                  <a:gd name="csY3" fmla="*/ 1 h 667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4796" h="66790">
                    <a:moveTo>
                      <a:pt x="64797" y="33396"/>
                    </a:moveTo>
                    <a:lnTo>
                      <a:pt x="1" y="66791"/>
                    </a:lnTo>
                    <a:lnTo>
                      <a:pt x="16243" y="3339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9673A6"/>
              </a:solidFill>
              <a:ln w="12950" cap="flat">
                <a:solidFill>
                  <a:srgbClr val="9673A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87" name="Graphic 3">
              <a:extLst>
                <a:ext uri="{FF2B5EF4-FFF2-40B4-BE49-F238E27FC236}">
                  <a16:creationId xmlns:a16="http://schemas.microsoft.com/office/drawing/2014/main" id="{8D7977EF-5B5F-81C9-65D5-EDCC3D791ED1}"/>
                </a:ext>
              </a:extLst>
            </p:cNvPr>
            <p:cNvGrpSpPr/>
            <p:nvPr/>
          </p:nvGrpSpPr>
          <p:grpSpPr>
            <a:xfrm>
              <a:off x="8186915" y="2712609"/>
              <a:ext cx="1195096" cy="543240"/>
              <a:chOff x="8186915" y="2712609"/>
              <a:chExt cx="1195096" cy="543240"/>
            </a:xfrm>
          </p:grpSpPr>
          <p:sp>
            <p:nvSpPr>
              <p:cNvPr id="788" name="Rounded Rectangle 787">
                <a:extLst>
                  <a:ext uri="{FF2B5EF4-FFF2-40B4-BE49-F238E27FC236}">
                    <a16:creationId xmlns:a16="http://schemas.microsoft.com/office/drawing/2014/main" id="{A42172D0-9F2C-A418-0EDC-C811C37ECBFF}"/>
                  </a:ext>
                </a:extLst>
              </p:cNvPr>
              <p:cNvSpPr/>
              <p:nvPr/>
            </p:nvSpPr>
            <p:spPr>
              <a:xfrm>
                <a:off x="8186915" y="2712609"/>
                <a:ext cx="1195096" cy="543240"/>
              </a:xfrm>
              <a:prstGeom prst="roundRect">
                <a:avLst>
                  <a:gd name="adj" fmla="val 11641"/>
                </a:avLst>
              </a:prstGeom>
              <a:solidFill>
                <a:srgbClr val="D5E8D4"/>
              </a:solidFill>
              <a:ln w="17266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" name="TextBox 788">
                <a:extLst>
                  <a:ext uri="{FF2B5EF4-FFF2-40B4-BE49-F238E27FC236}">
                    <a16:creationId xmlns:a16="http://schemas.microsoft.com/office/drawing/2014/main" id="{9E1879CC-AEB4-2707-306F-E338336474C9}"/>
                  </a:ext>
                </a:extLst>
              </p:cNvPr>
              <p:cNvSpPr txBox="1"/>
              <p:nvPr/>
            </p:nvSpPr>
            <p:spPr>
              <a:xfrm>
                <a:off x="8226640" y="2850019"/>
                <a:ext cx="1155371" cy="24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300" dirty="0">
                    <a:ln/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Helvetica"/>
                    <a:rtl val="0"/>
                  </a:rPr>
                  <a:t>Photorealistic</a:t>
                </a:r>
              </a:p>
            </p:txBody>
          </p:sp>
        </p:grpSp>
        <p:grpSp>
          <p:nvGrpSpPr>
            <p:cNvPr id="790" name="Graphic 3">
              <a:extLst>
                <a:ext uri="{FF2B5EF4-FFF2-40B4-BE49-F238E27FC236}">
                  <a16:creationId xmlns:a16="http://schemas.microsoft.com/office/drawing/2014/main" id="{23A67AB0-AD40-99D0-3BAF-F03A4A830B07}"/>
                </a:ext>
              </a:extLst>
            </p:cNvPr>
            <p:cNvGrpSpPr/>
            <p:nvPr/>
          </p:nvGrpSpPr>
          <p:grpSpPr>
            <a:xfrm>
              <a:off x="7804299" y="3281071"/>
              <a:ext cx="808897" cy="518002"/>
              <a:chOff x="7804299" y="3281071"/>
              <a:chExt cx="808897" cy="518002"/>
            </a:xfrm>
          </p:grpSpPr>
          <p:sp>
            <p:nvSpPr>
              <p:cNvPr id="791" name="Freeform 790">
                <a:extLst>
                  <a:ext uri="{FF2B5EF4-FFF2-40B4-BE49-F238E27FC236}">
                    <a16:creationId xmlns:a16="http://schemas.microsoft.com/office/drawing/2014/main" id="{89C036EA-DBC0-5202-74DB-A70E05B6E261}"/>
                  </a:ext>
                </a:extLst>
              </p:cNvPr>
              <p:cNvSpPr/>
              <p:nvPr/>
            </p:nvSpPr>
            <p:spPr>
              <a:xfrm>
                <a:off x="7804299" y="3349162"/>
                <a:ext cx="775332" cy="449911"/>
              </a:xfrm>
              <a:custGeom>
                <a:avLst/>
                <a:gdLst>
                  <a:gd name="csX0" fmla="*/ 1 w 1425512"/>
                  <a:gd name="csY0" fmla="*/ 647960 h 647959"/>
                  <a:gd name="csX1" fmla="*/ 1339119 w 1425512"/>
                  <a:gd name="csY1" fmla="*/ 647960 h 647959"/>
                  <a:gd name="csX2" fmla="*/ 1425513 w 1425512"/>
                  <a:gd name="csY2" fmla="*/ 558906 h 647959"/>
                  <a:gd name="csX3" fmla="*/ 1425513 w 1425512"/>
                  <a:gd name="csY3" fmla="*/ 1 h 6479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425512" h="647959">
                    <a:moveTo>
                      <a:pt x="1" y="647960"/>
                    </a:moveTo>
                    <a:lnTo>
                      <a:pt x="1339119" y="647960"/>
                    </a:lnTo>
                    <a:cubicBezTo>
                      <a:pt x="1396715" y="647960"/>
                      <a:pt x="1425513" y="618275"/>
                      <a:pt x="1425513" y="558906"/>
                    </a:cubicBezTo>
                    <a:lnTo>
                      <a:pt x="1425513" y="1"/>
                    </a:lnTo>
                  </a:path>
                </a:pathLst>
              </a:custGeom>
              <a:noFill/>
              <a:ln w="17266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2" name="Freeform 791">
                <a:extLst>
                  <a:ext uri="{FF2B5EF4-FFF2-40B4-BE49-F238E27FC236}">
                    <a16:creationId xmlns:a16="http://schemas.microsoft.com/office/drawing/2014/main" id="{A3522330-4C91-18F0-DCA2-08A48EAE4017}"/>
                  </a:ext>
                </a:extLst>
              </p:cNvPr>
              <p:cNvSpPr/>
              <p:nvPr/>
            </p:nvSpPr>
            <p:spPr>
              <a:xfrm>
                <a:off x="8544081" y="3281071"/>
                <a:ext cx="69115" cy="71243"/>
              </a:xfrm>
              <a:custGeom>
                <a:avLst/>
                <a:gdLst>
                  <a:gd name="csX0" fmla="*/ 34558 w 69115"/>
                  <a:gd name="csY0" fmla="*/ 1 h 71243"/>
                  <a:gd name="csX1" fmla="*/ 69116 w 69115"/>
                  <a:gd name="csY1" fmla="*/ 71244 h 71243"/>
                  <a:gd name="csX2" fmla="*/ 34558 w 69115"/>
                  <a:gd name="csY2" fmla="*/ 53433 h 71243"/>
                  <a:gd name="csX3" fmla="*/ 1 w 69115"/>
                  <a:gd name="csY3" fmla="*/ 71244 h 712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9115" h="71243">
                    <a:moveTo>
                      <a:pt x="34558" y="1"/>
                    </a:moveTo>
                    <a:lnTo>
                      <a:pt x="69116" y="71244"/>
                    </a:lnTo>
                    <a:lnTo>
                      <a:pt x="34558" y="53433"/>
                    </a:lnTo>
                    <a:lnTo>
                      <a:pt x="1" y="71244"/>
                    </a:lnTo>
                    <a:close/>
                  </a:path>
                </a:pathLst>
              </a:custGeom>
              <a:solidFill>
                <a:srgbClr val="82B366"/>
              </a:solidFill>
              <a:ln w="17266" cap="flat">
                <a:solidFill>
                  <a:srgbClr val="82B3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93" name="Rounded Rectangle 792">
              <a:extLst>
                <a:ext uri="{FF2B5EF4-FFF2-40B4-BE49-F238E27FC236}">
                  <a16:creationId xmlns:a16="http://schemas.microsoft.com/office/drawing/2014/main" id="{988B7FC6-ED6D-D287-4A9E-01B528DE5927}"/>
                </a:ext>
              </a:extLst>
            </p:cNvPr>
            <p:cNvSpPr/>
            <p:nvPr/>
          </p:nvSpPr>
          <p:spPr>
            <a:xfrm>
              <a:off x="8090371" y="3977182"/>
              <a:ext cx="1209526" cy="727271"/>
            </a:xfrm>
            <a:prstGeom prst="roundRect">
              <a:avLst>
                <a:gd name="adj" fmla="val 7761"/>
              </a:avLst>
            </a:prstGeom>
            <a:solidFill>
              <a:srgbClr val="FFF2CC"/>
            </a:solidFill>
            <a:ln w="17266" cap="flat">
              <a:solidFill>
                <a:srgbClr val="D6B656"/>
              </a:solidFill>
              <a:custDash>
                <a:ds d="1200000" sp="600000"/>
              </a:custDash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94" name="Graphic 3">
              <a:extLst>
                <a:ext uri="{FF2B5EF4-FFF2-40B4-BE49-F238E27FC236}">
                  <a16:creationId xmlns:a16="http://schemas.microsoft.com/office/drawing/2014/main" id="{31E362B7-99DF-30AD-EB78-EF1BBDC4A5F2}"/>
                </a:ext>
              </a:extLst>
            </p:cNvPr>
            <p:cNvGrpSpPr/>
            <p:nvPr/>
          </p:nvGrpSpPr>
          <p:grpSpPr>
            <a:xfrm>
              <a:off x="8100520" y="4030614"/>
              <a:ext cx="1555104" cy="527898"/>
              <a:chOff x="8100520" y="4030614"/>
              <a:chExt cx="1555104" cy="527898"/>
            </a:xfrm>
          </p:grpSpPr>
          <p:sp>
            <p:nvSpPr>
              <p:cNvPr id="795" name="Rectangle 794">
                <a:extLst>
                  <a:ext uri="{FF2B5EF4-FFF2-40B4-BE49-F238E27FC236}">
                    <a16:creationId xmlns:a16="http://schemas.microsoft.com/office/drawing/2014/main" id="{8AE81F99-D38C-26AA-4B6D-F044A72BE197}"/>
                  </a:ext>
                </a:extLst>
              </p:cNvPr>
              <p:cNvSpPr/>
              <p:nvPr/>
            </p:nvSpPr>
            <p:spPr>
              <a:xfrm>
                <a:off x="8100520" y="4030614"/>
                <a:ext cx="1555104" cy="178108"/>
              </a:xfrm>
              <a:prstGeom prst="rect">
                <a:avLst/>
              </a:prstGeom>
              <a:noFill/>
              <a:ln w="863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6" name="TextBox 795">
                <a:extLst>
                  <a:ext uri="{FF2B5EF4-FFF2-40B4-BE49-F238E27FC236}">
                    <a16:creationId xmlns:a16="http://schemas.microsoft.com/office/drawing/2014/main" id="{EE04CC3D-5BF9-7822-2FE4-09C2A069B3AE}"/>
                  </a:ext>
                </a:extLst>
              </p:cNvPr>
              <p:cNvSpPr txBox="1"/>
              <p:nvPr/>
            </p:nvSpPr>
            <p:spPr>
              <a:xfrm>
                <a:off x="8128498" y="4140853"/>
                <a:ext cx="1133271" cy="4176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300" dirty="0">
                    <a:ln/>
                    <a:solidFill>
                      <a:srgbClr val="B8860B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Helvetica"/>
                    <a:rtl val="0"/>
                  </a:rPr>
                  <a:t>Zero-Cost </a:t>
                </a:r>
              </a:p>
              <a:p>
                <a:pPr algn="ctr"/>
                <a:r>
                  <a:rPr lang="en-US" sz="1300" dirty="0">
                    <a:ln/>
                    <a:solidFill>
                      <a:srgbClr val="B8860B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Helvetica"/>
                    <a:rtl val="0"/>
                  </a:rPr>
                  <a:t>Augmentation</a:t>
                </a:r>
              </a:p>
            </p:txBody>
          </p:sp>
        </p:grpSp>
        <p:sp>
          <p:nvSpPr>
            <p:cNvPr id="798" name="Rectangle 797">
              <a:extLst>
                <a:ext uri="{FF2B5EF4-FFF2-40B4-BE49-F238E27FC236}">
                  <a16:creationId xmlns:a16="http://schemas.microsoft.com/office/drawing/2014/main" id="{7C7999D3-BD2D-B027-A5D0-81F7EFD6AB7C}"/>
                </a:ext>
              </a:extLst>
            </p:cNvPr>
            <p:cNvSpPr/>
            <p:nvPr/>
          </p:nvSpPr>
          <p:spPr>
            <a:xfrm>
              <a:off x="8143717" y="4262155"/>
              <a:ext cx="1468710" cy="160297"/>
            </a:xfrm>
            <a:prstGeom prst="rect">
              <a:avLst/>
            </a:prstGeom>
            <a:noFill/>
            <a:ln w="863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1" name="Rectangle 800">
              <a:extLst>
                <a:ext uri="{FF2B5EF4-FFF2-40B4-BE49-F238E27FC236}">
                  <a16:creationId xmlns:a16="http://schemas.microsoft.com/office/drawing/2014/main" id="{9927C670-5715-BA1C-7028-FA0A9AA4C2F8}"/>
                </a:ext>
              </a:extLst>
            </p:cNvPr>
            <p:cNvSpPr/>
            <p:nvPr/>
          </p:nvSpPr>
          <p:spPr>
            <a:xfrm>
              <a:off x="8143717" y="4440264"/>
              <a:ext cx="1468711" cy="160297"/>
            </a:xfrm>
            <a:prstGeom prst="rect">
              <a:avLst/>
            </a:prstGeom>
            <a:noFill/>
            <a:ln w="863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4" name="Rectangle 803">
              <a:extLst>
                <a:ext uri="{FF2B5EF4-FFF2-40B4-BE49-F238E27FC236}">
                  <a16:creationId xmlns:a16="http://schemas.microsoft.com/office/drawing/2014/main" id="{A251FF76-8FE4-C5A4-18AA-6F597AE18DAD}"/>
                </a:ext>
              </a:extLst>
            </p:cNvPr>
            <p:cNvSpPr/>
            <p:nvPr/>
          </p:nvSpPr>
          <p:spPr>
            <a:xfrm>
              <a:off x="8143717" y="4618373"/>
              <a:ext cx="1468711" cy="160297"/>
            </a:xfrm>
            <a:prstGeom prst="rect">
              <a:avLst/>
            </a:prstGeom>
            <a:noFill/>
            <a:ln w="863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7" name="Rectangle 806">
              <a:extLst>
                <a:ext uri="{FF2B5EF4-FFF2-40B4-BE49-F238E27FC236}">
                  <a16:creationId xmlns:a16="http://schemas.microsoft.com/office/drawing/2014/main" id="{04F02976-E8AF-223E-7605-2DD276C4B645}"/>
                </a:ext>
              </a:extLst>
            </p:cNvPr>
            <p:cNvSpPr/>
            <p:nvPr/>
          </p:nvSpPr>
          <p:spPr>
            <a:xfrm>
              <a:off x="8143717" y="4796482"/>
              <a:ext cx="1468711" cy="160297"/>
            </a:xfrm>
            <a:prstGeom prst="rect">
              <a:avLst/>
            </a:prstGeom>
            <a:noFill/>
            <a:ln w="863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0" name="Rectangle 809">
              <a:extLst>
                <a:ext uri="{FF2B5EF4-FFF2-40B4-BE49-F238E27FC236}">
                  <a16:creationId xmlns:a16="http://schemas.microsoft.com/office/drawing/2014/main" id="{479778F2-E17F-BD31-BB05-AA718D8EDA7E}"/>
                </a:ext>
              </a:extLst>
            </p:cNvPr>
            <p:cNvSpPr/>
            <p:nvPr/>
          </p:nvSpPr>
          <p:spPr>
            <a:xfrm>
              <a:off x="8143717" y="5028023"/>
              <a:ext cx="1468710" cy="267163"/>
            </a:xfrm>
            <a:prstGeom prst="rect">
              <a:avLst/>
            </a:prstGeom>
            <a:noFill/>
            <a:ln w="863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812" name="Graphic 3">
              <a:extLst>
                <a:ext uri="{FF2B5EF4-FFF2-40B4-BE49-F238E27FC236}">
                  <a16:creationId xmlns:a16="http://schemas.microsoft.com/office/drawing/2014/main" id="{EFF7DE68-4605-15A7-63FD-64980462B47D}"/>
                </a:ext>
              </a:extLst>
            </p:cNvPr>
            <p:cNvGrpSpPr/>
            <p:nvPr/>
          </p:nvGrpSpPr>
          <p:grpSpPr>
            <a:xfrm>
              <a:off x="8822387" y="3253450"/>
              <a:ext cx="902985" cy="690958"/>
              <a:chOff x="8822387" y="3253450"/>
              <a:chExt cx="902985" cy="690958"/>
            </a:xfrm>
          </p:grpSpPr>
          <p:grpSp>
            <p:nvGrpSpPr>
              <p:cNvPr id="813" name="Graphic 3">
                <a:extLst>
                  <a:ext uri="{FF2B5EF4-FFF2-40B4-BE49-F238E27FC236}">
                    <a16:creationId xmlns:a16="http://schemas.microsoft.com/office/drawing/2014/main" id="{C43D1AA9-2BC8-1972-0387-3E37635CC81E}"/>
                  </a:ext>
                </a:extLst>
              </p:cNvPr>
              <p:cNvGrpSpPr/>
              <p:nvPr/>
            </p:nvGrpSpPr>
            <p:grpSpPr>
              <a:xfrm>
                <a:off x="8822387" y="3253450"/>
                <a:ext cx="88083" cy="690958"/>
                <a:chOff x="8822387" y="3253450"/>
                <a:chExt cx="88083" cy="690958"/>
              </a:xfrm>
            </p:grpSpPr>
            <p:sp>
              <p:nvSpPr>
                <p:cNvPr id="814" name="Freeform 813">
                  <a:extLst>
                    <a:ext uri="{FF2B5EF4-FFF2-40B4-BE49-F238E27FC236}">
                      <a16:creationId xmlns:a16="http://schemas.microsoft.com/office/drawing/2014/main" id="{5802C5C4-1705-BEF0-FF84-87FC12DE45FF}"/>
                    </a:ext>
                  </a:extLst>
                </p:cNvPr>
                <p:cNvSpPr/>
                <p:nvPr/>
              </p:nvSpPr>
              <p:spPr>
                <a:xfrm>
                  <a:off x="8822387" y="3253450"/>
                  <a:ext cx="86394" cy="647425"/>
                </a:xfrm>
                <a:custGeom>
                  <a:avLst/>
                  <a:gdLst>
                    <a:gd name="csX0" fmla="*/ 1 w 86394"/>
                    <a:gd name="csY0" fmla="*/ 1 h 647425"/>
                    <a:gd name="csX1" fmla="*/ 1 w 86394"/>
                    <a:gd name="csY1" fmla="*/ 268411 h 647425"/>
                    <a:gd name="csX2" fmla="*/ 43198 w 86394"/>
                    <a:gd name="csY2" fmla="*/ 357465 h 647425"/>
                    <a:gd name="csX3" fmla="*/ 64797 w 86394"/>
                    <a:gd name="csY3" fmla="*/ 357465 h 647425"/>
                    <a:gd name="csX4" fmla="*/ 86395 w 86394"/>
                    <a:gd name="csY4" fmla="*/ 446519 h 647425"/>
                    <a:gd name="csX5" fmla="*/ 86395 w 86394"/>
                    <a:gd name="csY5" fmla="*/ 647426 h 6474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86394" h="647425">
                      <a:moveTo>
                        <a:pt x="1" y="1"/>
                      </a:moveTo>
                      <a:lnTo>
                        <a:pt x="1" y="268411"/>
                      </a:lnTo>
                      <a:cubicBezTo>
                        <a:pt x="1" y="327780"/>
                        <a:pt x="14400" y="357465"/>
                        <a:pt x="43198" y="357465"/>
                      </a:cubicBezTo>
                      <a:lnTo>
                        <a:pt x="64797" y="357465"/>
                      </a:lnTo>
                      <a:cubicBezTo>
                        <a:pt x="79196" y="357465"/>
                        <a:pt x="86395" y="387150"/>
                        <a:pt x="86395" y="446519"/>
                      </a:cubicBezTo>
                      <a:lnTo>
                        <a:pt x="86395" y="647426"/>
                      </a:lnTo>
                    </a:path>
                  </a:pathLst>
                </a:custGeom>
                <a:noFill/>
                <a:ln w="12950" cap="flat">
                  <a:solidFill>
                    <a:srgbClr val="D6B656"/>
                  </a:solidFill>
                  <a:custDash>
                    <a:ds d="337500" sp="337500"/>
                  </a:custDash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5" name="Freeform 814">
                  <a:extLst>
                    <a:ext uri="{FF2B5EF4-FFF2-40B4-BE49-F238E27FC236}">
                      <a16:creationId xmlns:a16="http://schemas.microsoft.com/office/drawing/2014/main" id="{6F2272A4-4C97-DD89-67C6-CAAE31C14702}"/>
                    </a:ext>
                  </a:extLst>
                </p:cNvPr>
                <p:cNvSpPr/>
                <p:nvPr/>
              </p:nvSpPr>
              <p:spPr>
                <a:xfrm>
                  <a:off x="8845674" y="3877618"/>
                  <a:ext cx="64796" cy="66790"/>
                </a:xfrm>
                <a:custGeom>
                  <a:avLst/>
                  <a:gdLst>
                    <a:gd name="csX0" fmla="*/ 32399 w 64796"/>
                    <a:gd name="csY0" fmla="*/ 66791 h 66790"/>
                    <a:gd name="csX1" fmla="*/ 1 w 64796"/>
                    <a:gd name="csY1" fmla="*/ 1 h 66790"/>
                    <a:gd name="csX2" fmla="*/ 32399 w 64796"/>
                    <a:gd name="csY2" fmla="*/ 16743 h 66790"/>
                    <a:gd name="csX3" fmla="*/ 64797 w 64796"/>
                    <a:gd name="csY3" fmla="*/ 1 h 6679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4796" h="66790">
                      <a:moveTo>
                        <a:pt x="32399" y="66791"/>
                      </a:moveTo>
                      <a:lnTo>
                        <a:pt x="1" y="1"/>
                      </a:lnTo>
                      <a:lnTo>
                        <a:pt x="32399" y="16743"/>
                      </a:lnTo>
                      <a:lnTo>
                        <a:pt x="64797" y="1"/>
                      </a:lnTo>
                      <a:close/>
                    </a:path>
                  </a:pathLst>
                </a:custGeom>
                <a:solidFill>
                  <a:srgbClr val="D6B656"/>
                </a:solidFill>
                <a:ln w="12950" cap="flat">
                  <a:solidFill>
                    <a:srgbClr val="D6B65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26FEF581-9F92-C821-FE3D-8AC2D7956B0F}"/>
                  </a:ext>
                </a:extLst>
              </p:cNvPr>
              <p:cNvSpPr txBox="1"/>
              <p:nvPr/>
            </p:nvSpPr>
            <p:spPr>
              <a:xfrm>
                <a:off x="8910470" y="3599561"/>
                <a:ext cx="814902" cy="2479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300" dirty="0">
                    <a:ln/>
                    <a:solidFill>
                      <a:srgbClr val="B8860B"/>
                    </a:solidFill>
                    <a:latin typeface="Helvetica"/>
                    <a:sym typeface="Helvetica"/>
                    <a:rtl val="0"/>
                  </a:rPr>
                  <a:t>re-render</a:t>
                </a:r>
              </a:p>
            </p:txBody>
          </p:sp>
        </p:grpSp>
        <p:grpSp>
          <p:nvGrpSpPr>
            <p:cNvPr id="817" name="Graphic 3">
              <a:extLst>
                <a:ext uri="{FF2B5EF4-FFF2-40B4-BE49-F238E27FC236}">
                  <a16:creationId xmlns:a16="http://schemas.microsoft.com/office/drawing/2014/main" id="{C63D1295-5357-4295-766E-60B7AFFE7E1F}"/>
                </a:ext>
              </a:extLst>
            </p:cNvPr>
            <p:cNvGrpSpPr/>
            <p:nvPr/>
          </p:nvGrpSpPr>
          <p:grpSpPr>
            <a:xfrm>
              <a:off x="9624767" y="2569177"/>
              <a:ext cx="1353230" cy="798843"/>
              <a:chOff x="9624767" y="2569177"/>
              <a:chExt cx="1353230" cy="798843"/>
            </a:xfrm>
          </p:grpSpPr>
          <p:sp>
            <p:nvSpPr>
              <p:cNvPr id="818" name="Rounded Rectangle 817">
                <a:extLst>
                  <a:ext uri="{FF2B5EF4-FFF2-40B4-BE49-F238E27FC236}">
                    <a16:creationId xmlns:a16="http://schemas.microsoft.com/office/drawing/2014/main" id="{EFA32D26-5F88-95AC-B038-DCABC18A99D2}"/>
                  </a:ext>
                </a:extLst>
              </p:cNvPr>
              <p:cNvSpPr/>
              <p:nvPr/>
            </p:nvSpPr>
            <p:spPr>
              <a:xfrm>
                <a:off x="9624767" y="2569177"/>
                <a:ext cx="1353230" cy="798843"/>
              </a:xfrm>
              <a:prstGeom prst="roundRect">
                <a:avLst>
                  <a:gd name="adj" fmla="val 5363"/>
                </a:avLst>
              </a:prstGeom>
              <a:solidFill>
                <a:srgbClr val="DAE8FC"/>
              </a:solidFill>
              <a:ln w="8633" cap="flat">
                <a:solidFill>
                  <a:srgbClr val="6C8EB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" name="TextBox 818">
                <a:extLst>
                  <a:ext uri="{FF2B5EF4-FFF2-40B4-BE49-F238E27FC236}">
                    <a16:creationId xmlns:a16="http://schemas.microsoft.com/office/drawing/2014/main" id="{4D149464-576B-F92F-BBD5-D1732125AA84}"/>
                  </a:ext>
                </a:extLst>
              </p:cNvPr>
              <p:cNvSpPr txBox="1"/>
              <p:nvPr/>
            </p:nvSpPr>
            <p:spPr>
              <a:xfrm>
                <a:off x="9709128" y="3027068"/>
                <a:ext cx="1184509" cy="2479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300" dirty="0">
                    <a:ln/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Helvetica"/>
                    <a:rtl val="0"/>
                  </a:rPr>
                  <a:t>Policy Training</a:t>
                </a:r>
              </a:p>
            </p:txBody>
          </p:sp>
        </p:grpSp>
        <p:sp>
          <p:nvSpPr>
            <p:cNvPr id="822" name="TextBox 821">
              <a:extLst>
                <a:ext uri="{FF2B5EF4-FFF2-40B4-BE49-F238E27FC236}">
                  <a16:creationId xmlns:a16="http://schemas.microsoft.com/office/drawing/2014/main" id="{7F1F5CE6-CB41-85DA-2C4C-413BC8D0CC55}"/>
                </a:ext>
              </a:extLst>
            </p:cNvPr>
            <p:cNvSpPr txBox="1"/>
            <p:nvPr/>
          </p:nvSpPr>
          <p:spPr>
            <a:xfrm>
              <a:off x="9637614" y="2668103"/>
              <a:ext cx="1309884" cy="417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dirty="0">
                  <a:ln/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"/>
                  <a:rtl val="0"/>
                </a:rPr>
                <a:t>Training Dataset</a:t>
              </a:r>
            </a:p>
            <a:p>
              <a:pPr algn="ctr"/>
              <a:r>
                <a:rPr lang="en-US" sz="1300" dirty="0">
                  <a:ln/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"/>
                  <a:rtl val="0"/>
                </a:rPr>
                <a:t>&amp;</a:t>
              </a:r>
            </a:p>
          </p:txBody>
        </p:sp>
        <p:grpSp>
          <p:nvGrpSpPr>
            <p:cNvPr id="829" name="Graphic 3">
              <a:extLst>
                <a:ext uri="{FF2B5EF4-FFF2-40B4-BE49-F238E27FC236}">
                  <a16:creationId xmlns:a16="http://schemas.microsoft.com/office/drawing/2014/main" id="{08918F72-8199-2FDF-8DB4-560248D99989}"/>
                </a:ext>
              </a:extLst>
            </p:cNvPr>
            <p:cNvGrpSpPr/>
            <p:nvPr/>
          </p:nvGrpSpPr>
          <p:grpSpPr>
            <a:xfrm>
              <a:off x="3694389" y="5050060"/>
              <a:ext cx="4319736" cy="957561"/>
              <a:chOff x="3694389" y="5050060"/>
              <a:chExt cx="4319736" cy="957561"/>
            </a:xfrm>
          </p:grpSpPr>
          <p:sp>
            <p:nvSpPr>
              <p:cNvPr id="830" name="Rectangle 829">
                <a:extLst>
                  <a:ext uri="{FF2B5EF4-FFF2-40B4-BE49-F238E27FC236}">
                    <a16:creationId xmlns:a16="http://schemas.microsoft.com/office/drawing/2014/main" id="{254F50E1-A5DA-7D42-9FE8-4C9AAAFB2972}"/>
                  </a:ext>
                </a:extLst>
              </p:cNvPr>
              <p:cNvSpPr/>
              <p:nvPr/>
            </p:nvSpPr>
            <p:spPr>
              <a:xfrm>
                <a:off x="3694389" y="5740458"/>
                <a:ext cx="4319736" cy="267163"/>
              </a:xfrm>
              <a:prstGeom prst="rect">
                <a:avLst/>
              </a:prstGeom>
              <a:noFill/>
              <a:ln w="863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" name="TextBox 830">
                <a:extLst>
                  <a:ext uri="{FF2B5EF4-FFF2-40B4-BE49-F238E27FC236}">
                    <a16:creationId xmlns:a16="http://schemas.microsoft.com/office/drawing/2014/main" id="{5270E5DA-349D-56E6-90B3-E591A44B1D76}"/>
                  </a:ext>
                </a:extLst>
              </p:cNvPr>
              <p:cNvSpPr txBox="1"/>
              <p:nvPr/>
            </p:nvSpPr>
            <p:spPr>
              <a:xfrm>
                <a:off x="5190709" y="5050060"/>
                <a:ext cx="2503294" cy="391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i="1" dirty="0">
                    <a:ln/>
                    <a:solidFill>
                      <a:srgbClr val="B85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Helvetica"/>
                    <a:rtl val="0"/>
                  </a:rPr>
                  <a:t>Physics (</a:t>
                </a:r>
                <a:r>
                  <a:rPr lang="en-US" sz="1200" i="1" dirty="0" err="1">
                    <a:ln/>
                    <a:solidFill>
                      <a:srgbClr val="B85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Helvetica"/>
                    <a:rtl val="0"/>
                  </a:rPr>
                  <a:t>MuJoCo</a:t>
                </a:r>
                <a:r>
                  <a:rPr lang="en-US" sz="1200" i="1" dirty="0">
                    <a:ln/>
                    <a:solidFill>
                      <a:srgbClr val="B85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Helvetica"/>
                    <a:rtl val="0"/>
                  </a:rPr>
                  <a:t>) and Rendering (3DGS) are fully decoupled</a:t>
                </a:r>
              </a:p>
            </p:txBody>
          </p:sp>
        </p:grpSp>
      </p:grpSp>
      <p:cxnSp>
        <p:nvCxnSpPr>
          <p:cNvPr id="837" name="Straight Arrow Connector 836">
            <a:extLst>
              <a:ext uri="{FF2B5EF4-FFF2-40B4-BE49-F238E27FC236}">
                <a16:creationId xmlns:a16="http://schemas.microsoft.com/office/drawing/2014/main" id="{5F6D2C2E-0680-F15B-AE7F-FE67E5565DB0}"/>
              </a:ext>
            </a:extLst>
          </p:cNvPr>
          <p:cNvCxnSpPr>
            <a:cxnSpLocks/>
          </p:cNvCxnSpPr>
          <p:nvPr/>
        </p:nvCxnSpPr>
        <p:spPr>
          <a:xfrm>
            <a:off x="2067272" y="1172694"/>
            <a:ext cx="5612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Arrow Connector 837">
            <a:extLst>
              <a:ext uri="{FF2B5EF4-FFF2-40B4-BE49-F238E27FC236}">
                <a16:creationId xmlns:a16="http://schemas.microsoft.com/office/drawing/2014/main" id="{D83747CD-28DD-D496-3440-73814B740304}"/>
              </a:ext>
            </a:extLst>
          </p:cNvPr>
          <p:cNvCxnSpPr>
            <a:cxnSpLocks/>
          </p:cNvCxnSpPr>
          <p:nvPr/>
        </p:nvCxnSpPr>
        <p:spPr>
          <a:xfrm>
            <a:off x="2067272" y="1946862"/>
            <a:ext cx="5612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Arrow Connector 838">
            <a:extLst>
              <a:ext uri="{FF2B5EF4-FFF2-40B4-BE49-F238E27FC236}">
                <a16:creationId xmlns:a16="http://schemas.microsoft.com/office/drawing/2014/main" id="{1069D2F0-36A2-B1B2-75FB-387A132A7F28}"/>
              </a:ext>
            </a:extLst>
          </p:cNvPr>
          <p:cNvCxnSpPr>
            <a:cxnSpLocks/>
          </p:cNvCxnSpPr>
          <p:nvPr/>
        </p:nvCxnSpPr>
        <p:spPr>
          <a:xfrm>
            <a:off x="2067272" y="3127349"/>
            <a:ext cx="5991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0" name="TextBox 839">
            <a:extLst>
              <a:ext uri="{FF2B5EF4-FFF2-40B4-BE49-F238E27FC236}">
                <a16:creationId xmlns:a16="http://schemas.microsoft.com/office/drawing/2014/main" id="{86E0AF5A-3BAB-C53D-FEA2-B60F62C907F4}"/>
              </a:ext>
            </a:extLst>
          </p:cNvPr>
          <p:cNvSpPr txBox="1"/>
          <p:nvPr/>
        </p:nvSpPr>
        <p:spPr>
          <a:xfrm>
            <a:off x="921091" y="5072889"/>
            <a:ext cx="1312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G1 3DGS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82FAA83-7296-6C00-552A-970FE3120A4B}"/>
              </a:ext>
            </a:extLst>
          </p:cNvPr>
          <p:cNvCxnSpPr>
            <a:cxnSpLocks/>
            <a:stCxn id="789" idx="3"/>
          </p:cNvCxnSpPr>
          <p:nvPr/>
        </p:nvCxnSpPr>
        <p:spPr>
          <a:xfrm>
            <a:off x="10020177" y="2232789"/>
            <a:ext cx="241417" cy="39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04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00" fill="hold"/>
                                        <p:tgtEl>
                                          <p:spTgt spid="8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3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478</TotalTime>
  <Words>108</Words>
  <Application>Microsoft Macintosh PowerPoint</Application>
  <PresentationFormat>Custom</PresentationFormat>
  <Paragraphs>33</Paragraphs>
  <Slides>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Junying Wang</cp:lastModifiedBy>
  <cp:revision>11</cp:revision>
  <dcterms:created xsi:type="dcterms:W3CDTF">2026-04-28T05:53:38Z</dcterms:created>
  <dcterms:modified xsi:type="dcterms:W3CDTF">2026-06-20T23:05:00Z</dcterms:modified>
</cp:coreProperties>
</file>